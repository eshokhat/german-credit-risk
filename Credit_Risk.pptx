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E563"/>
    <a:srgbClr val="F9F9F9"/>
    <a:srgbClr val="EF4323"/>
    <a:srgbClr val="131313"/>
    <a:srgbClr val="868686"/>
    <a:srgbClr val="5804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74"/>
    <p:restoredTop sz="96860"/>
  </p:normalViewPr>
  <p:slideViewPr>
    <p:cSldViewPr snapToObjects="1">
      <p:cViewPr varScale="1">
        <p:scale>
          <a:sx n="198" d="100"/>
          <a:sy n="198" d="100"/>
        </p:scale>
        <p:origin x="208" y="2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DP Gap</c:v>
                </c:pt>
              </c:strCache>
            </c:strRef>
          </c:tx>
          <c:spPr>
            <a:solidFill>
              <a:srgbClr val="888888"/>
            </a:solidFill>
            <a:effectLst/>
          </c:spPr>
          <c:invertIfNegative val="0"/>
          <c:dPt>
            <c:idx val="0"/>
            <c:invertIfNegative val="0"/>
            <c:bubble3D val="0"/>
            <c:extLst>
              <c:ext xmlns:c16="http://schemas.microsoft.com/office/drawing/2014/chart" uri="{C3380CC4-5D6E-409C-BE32-E72D297353CC}">
                <c16:uniqueId val="{00000001-6486-5947-8948-7C93892C89EE}"/>
              </c:ext>
            </c:extLst>
          </c:dPt>
          <c:dPt>
            <c:idx val="1"/>
            <c:invertIfNegative val="0"/>
            <c:bubble3D val="0"/>
            <c:spPr>
              <a:solidFill>
                <a:srgbClr val="EF4323"/>
              </a:solidFill>
              <a:effectLst/>
            </c:spPr>
            <c:extLst>
              <c:ext xmlns:c16="http://schemas.microsoft.com/office/drawing/2014/chart" uri="{C3380CC4-5D6E-409C-BE32-E72D297353CC}">
                <c16:uniqueId val="{00000003-6486-5947-8948-7C93892C89EE}"/>
              </c:ext>
            </c:extLst>
          </c:dPt>
          <c:dLbls>
            <c:numFmt formatCode="#,##0" sourceLinked="0"/>
            <c:spPr>
              <a:noFill/>
              <a:ln>
                <a:noFill/>
              </a:ln>
              <a:effectLst/>
            </c:spPr>
            <c:txPr>
              <a:bodyPr/>
              <a:lstStyle/>
              <a:p>
                <a:pPr>
                  <a:defRPr sz="1300" b="0" i="0" u="none" strike="noStrike">
                    <a:solidFill>
                      <a:srgbClr val="131313"/>
                    </a:solidFill>
                    <a:latin typeface="Arial"/>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Bank (original)</c:v>
                </c:pt>
                <c:pt idx="1">
                  <c:v>Baseline RF</c:v>
                </c:pt>
              </c:strCache>
            </c:strRef>
          </c:cat>
          <c:val>
            <c:numRef>
              <c:f>Sheet1!$B$2:$B$3</c:f>
              <c:numCache>
                <c:formatCode>General</c:formatCode>
                <c:ptCount val="2"/>
                <c:pt idx="0">
                  <c:v>0.19800000000000001</c:v>
                </c:pt>
                <c:pt idx="1">
                  <c:v>0.23100000000000001</c:v>
                </c:pt>
              </c:numCache>
            </c:numRef>
          </c:val>
          <c:extLst>
            <c:ext xmlns:c16="http://schemas.microsoft.com/office/drawing/2014/chart" uri="{C3380CC4-5D6E-409C-BE32-E72D297353CC}">
              <c16:uniqueId val="{00000004-6486-5947-8948-7C93892C89E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1313"/>
                </a:solidFill>
                <a:latin typeface="Arial"/>
              </a:defRPr>
            </a:pPr>
            <a:endParaRPr lang="en-US"/>
          </a:p>
        </c:txPr>
        <c:crossAx val="2094734552"/>
        <c:crosses val="autoZero"/>
        <c:auto val="1"/>
        <c:lblAlgn val="ctr"/>
        <c:lblOffset val="100"/>
        <c:noMultiLvlLbl val="1"/>
      </c:catAx>
      <c:valAx>
        <c:axId val="2094734552"/>
        <c:scaling>
          <c:orientation val="minMax"/>
          <c:max val="0.28000000000000003"/>
          <c:min val="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9F9F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0750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Welcome. This paper explores algorithmic fairness in credit scoring using the German Credit dataset. I’ll show you how a machine learning model can inherit and amplify human bias, and</a:t>
            </a:r>
            <a:r>
              <a:rPr lang="ru-RU" sz="1200" b="0" i="0" u="none" strike="noStrike" kern="1200" dirty="0">
                <a:solidFill>
                  <a:schemeClr val="tx1"/>
                </a:solidFill>
                <a:effectLst/>
                <a:latin typeface="+mn-lt"/>
                <a:ea typeface="+mn-ea"/>
                <a:cs typeface="+mn-cs"/>
              </a:rPr>
              <a:t> - </a:t>
            </a:r>
            <a:r>
              <a:rPr lang="en-US" sz="1200" b="0" i="0" u="none" strike="noStrike" kern="1200" dirty="0">
                <a:solidFill>
                  <a:schemeClr val="tx1"/>
                </a:solidFill>
                <a:effectLst/>
                <a:latin typeface="+mn-lt"/>
                <a:ea typeface="+mn-ea"/>
                <a:cs typeface="+mn-cs"/>
              </a:rPr>
              <a:t>more importantly</a:t>
            </a:r>
            <a:r>
              <a:rPr lang="ru-RU" sz="1200" b="0" i="0" u="none" strike="noStrike" kern="1200" dirty="0">
                <a:solidFill>
                  <a:schemeClr val="tx1"/>
                </a:solidFill>
                <a:effectLst/>
                <a:latin typeface="+mn-lt"/>
                <a:ea typeface="+mn-ea"/>
                <a:cs typeface="+mn-cs"/>
              </a:rPr>
              <a:t> - </a:t>
            </a:r>
            <a:r>
              <a:rPr lang="en-US" sz="1200" b="0" i="0" u="none" strike="noStrike" kern="1200" dirty="0">
                <a:solidFill>
                  <a:schemeClr val="tx1"/>
                </a:solidFill>
                <a:effectLst/>
                <a:latin typeface="+mn-lt"/>
                <a:ea typeface="+mn-ea"/>
                <a:cs typeface="+mn-cs"/>
              </a:rPr>
              <a:t>how we can fix it using fairness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My talk covers five parts:</a:t>
            </a:r>
            <a:endParaRPr lang="ru-RU"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 motivation for fairness in credit.</a:t>
            </a:r>
            <a:endParaRPr lang="ru-RU"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 dataset and current demographic gaps.</a:t>
            </a:r>
            <a:endParaRPr lang="ru-RU"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How the baseline model amplifies these gaps.</a:t>
            </a:r>
            <a:endParaRPr lang="ru-RU"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 three interventions we tested.</a:t>
            </a:r>
            <a:endParaRPr lang="ru-RU"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Our empirical results and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Why does this matter? Financial institutions use automated models to speed up decisions, but these models are trained on biased human history. The real danger is </a:t>
            </a:r>
            <a:r>
              <a:rPr lang="en-US" sz="1200" b="0" i="1" kern="1200" dirty="0">
                <a:solidFill>
                  <a:schemeClr val="tx1"/>
                </a:solidFill>
                <a:effectLst/>
                <a:latin typeface="+mn-lt"/>
                <a:ea typeface="+mn-ea"/>
                <a:cs typeface="+mn-cs"/>
              </a:rPr>
              <a:t>amplification</a:t>
            </a:r>
            <a:r>
              <a:rPr lang="en-US" sz="1200" b="0" i="0" u="none" strike="noStrike" kern="1200" dirty="0">
                <a:solidFill>
                  <a:schemeClr val="tx1"/>
                </a:solidFill>
                <a:effectLst/>
                <a:latin typeface="+mn-lt"/>
                <a:ea typeface="+mn-ea"/>
                <a:cs typeface="+mn-cs"/>
              </a:rPr>
              <a:t>: while humans might be inconsistent, a model applies bias perfectly every single time. My paper asks: can we detect and reduce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 used the </a:t>
            </a:r>
            <a:r>
              <a:rPr lang="en-US" sz="1200" b="0" i="0" u="none" strike="noStrike" kern="1200" dirty="0" err="1">
                <a:solidFill>
                  <a:schemeClr val="tx1"/>
                </a:solidFill>
                <a:effectLst/>
                <a:latin typeface="+mn-lt"/>
                <a:ea typeface="+mn-ea"/>
                <a:cs typeface="+mn-cs"/>
              </a:rPr>
              <a:t>Statlog</a:t>
            </a:r>
            <a:r>
              <a:rPr lang="en-US" sz="1200" b="0" i="0" u="none" strike="noStrike" kern="1200" dirty="0">
                <a:solidFill>
                  <a:schemeClr val="tx1"/>
                </a:solidFill>
                <a:effectLst/>
                <a:latin typeface="+mn-lt"/>
                <a:ea typeface="+mn-ea"/>
                <a:cs typeface="+mn-cs"/>
              </a:rPr>
              <a:t> dataset (1,000 bank decisions). The bank's historical data shows a clear bias: young applicants are rejected 15% more often than older ones. This results in a Demographic Parity gap of 0.198. This is our benchmark</a:t>
            </a:r>
            <a:r>
              <a:rPr lang="ru-RU" sz="1200" b="0" i="0" u="none" strike="noStrike" kern="1200" dirty="0">
                <a:solidFill>
                  <a:schemeClr val="tx1"/>
                </a:solidFill>
                <a:effectLst/>
                <a:latin typeface="+mn-lt"/>
                <a:ea typeface="+mn-ea"/>
                <a:cs typeface="+mn-cs"/>
              </a:rPr>
              <a:t> - </a:t>
            </a:r>
            <a:r>
              <a:rPr lang="en-US" sz="1200" b="0" i="0" u="none" strike="noStrike" kern="1200" dirty="0">
                <a:solidFill>
                  <a:schemeClr val="tx1"/>
                </a:solidFill>
                <a:effectLst/>
                <a:latin typeface="+mn-lt"/>
                <a:ea typeface="+mn-ea"/>
                <a:cs typeface="+mn-cs"/>
              </a:rPr>
              <a:t>every intervention aims to beat this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 trained a Random Forest model. It’s accurate, with a ROC-AUC of 0.793. However, it fails the fairness audit. The Demographic Parity gap jumped to 0.231</a:t>
            </a:r>
            <a:r>
              <a:rPr lang="ru-RU" sz="1200" b="0" i="0" u="none" strike="noStrike" kern="1200" dirty="0">
                <a:solidFill>
                  <a:schemeClr val="tx1"/>
                </a:solidFill>
                <a:effectLst/>
                <a:latin typeface="+mn-lt"/>
                <a:ea typeface="+mn-ea"/>
                <a:cs typeface="+mn-cs"/>
              </a:rPr>
              <a:t> - </a:t>
            </a:r>
            <a:r>
              <a:rPr lang="en-US" sz="1200" b="0" i="0" u="none" strike="noStrike" kern="1200" dirty="0">
                <a:solidFill>
                  <a:schemeClr val="tx1"/>
                </a:solidFill>
                <a:effectLst/>
                <a:latin typeface="+mn-lt"/>
                <a:ea typeface="+mn-ea"/>
                <a:cs typeface="+mn-cs"/>
              </a:rPr>
              <a:t>meaning the model is </a:t>
            </a:r>
            <a:r>
              <a:rPr lang="en-US" sz="1200" b="0" i="1" kern="1200" dirty="0">
                <a:solidFill>
                  <a:schemeClr val="tx1"/>
                </a:solidFill>
                <a:effectLst/>
                <a:latin typeface="+mn-lt"/>
                <a:ea typeface="+mn-ea"/>
                <a:cs typeface="+mn-cs"/>
              </a:rPr>
              <a:t>more</a:t>
            </a:r>
            <a:r>
              <a:rPr lang="en-US" sz="1200" b="0" i="0" u="none" strike="noStrike" kern="1200" dirty="0">
                <a:solidFill>
                  <a:schemeClr val="tx1"/>
                </a:solidFill>
                <a:effectLst/>
                <a:latin typeface="+mn-lt"/>
                <a:ea typeface="+mn-ea"/>
                <a:cs typeface="+mn-cs"/>
              </a:rPr>
              <a:t> biased than the bank. Why? Because the model treats 'Age' as a primary signal, ranking it 7th in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tested three common approaches:</a:t>
            </a:r>
          </a:p>
          <a:p>
            <a:r>
              <a:rPr lang="en-US" sz="1200" b="1" i="0" kern="1200" dirty="0">
                <a:solidFill>
                  <a:schemeClr val="tx1"/>
                </a:solidFill>
                <a:effectLst/>
                <a:latin typeface="+mn-lt"/>
                <a:ea typeface="+mn-ea"/>
                <a:cs typeface="+mn-cs"/>
              </a:rPr>
              <a:t>Pre-training (Reweighing):</a:t>
            </a:r>
            <a:r>
              <a:rPr lang="en-US" sz="1200" b="0" i="0" kern="1200" dirty="0">
                <a:solidFill>
                  <a:schemeClr val="tx1"/>
                </a:solidFill>
                <a:effectLst/>
                <a:latin typeface="+mn-lt"/>
                <a:ea typeface="+mn-ea"/>
                <a:cs typeface="+mn-cs"/>
              </a:rPr>
              <a:t> Balancing the data before training.</a:t>
            </a:r>
          </a:p>
          <a:p>
            <a:r>
              <a:rPr lang="en-US" sz="1200" b="1" i="0" kern="1200" dirty="0">
                <a:solidFill>
                  <a:schemeClr val="tx1"/>
                </a:solidFill>
                <a:effectLst/>
                <a:latin typeface="+mn-lt"/>
                <a:ea typeface="+mn-ea"/>
                <a:cs typeface="+mn-cs"/>
              </a:rPr>
              <a:t>In-training (Cost Penalty):</a:t>
            </a:r>
            <a:r>
              <a:rPr lang="en-US" sz="1200" b="0" i="0" kern="1200" dirty="0">
                <a:solidFill>
                  <a:schemeClr val="tx1"/>
                </a:solidFill>
                <a:effectLst/>
                <a:latin typeface="+mn-lt"/>
                <a:ea typeface="+mn-ea"/>
                <a:cs typeface="+mn-cs"/>
              </a:rPr>
              <a:t> Applying a 5:1 penalty for 'Bad' labels on young applicants.</a:t>
            </a:r>
          </a:p>
          <a:p>
            <a:r>
              <a:rPr lang="en-US" sz="1200" b="1" i="0" kern="1200" dirty="0">
                <a:solidFill>
                  <a:schemeClr val="tx1"/>
                </a:solidFill>
                <a:effectLst/>
                <a:latin typeface="+mn-lt"/>
                <a:ea typeface="+mn-ea"/>
                <a:cs typeface="+mn-cs"/>
              </a:rPr>
              <a:t>Post-training (Thresholds):</a:t>
            </a:r>
            <a:r>
              <a:rPr lang="en-US" sz="1200" b="0" i="0" kern="1200" dirty="0">
                <a:solidFill>
                  <a:schemeClr val="tx1"/>
                </a:solidFill>
                <a:effectLst/>
                <a:latin typeface="+mn-lt"/>
                <a:ea typeface="+mn-ea"/>
                <a:cs typeface="+mn-cs"/>
              </a:rPr>
              <a:t> Adjusting the decision threshold (0.</a:t>
            </a:r>
            <a:r>
              <a:rPr lang="ru-RU" sz="1200" b="0" i="0" kern="1200" dirty="0">
                <a:solidFill>
                  <a:schemeClr val="tx1"/>
                </a:solidFill>
                <a:effectLst/>
                <a:latin typeface="+mn-lt"/>
                <a:ea typeface="+mn-ea"/>
                <a:cs typeface="+mn-cs"/>
              </a:rPr>
              <a:t>4</a:t>
            </a:r>
            <a:r>
              <a:rPr lang="en-US" sz="1200" b="0" i="0" kern="1200" dirty="0">
                <a:solidFill>
                  <a:schemeClr val="tx1"/>
                </a:solidFill>
                <a:effectLst/>
                <a:latin typeface="+mn-lt"/>
                <a:ea typeface="+mn-ea"/>
                <a:cs typeface="+mn-cs"/>
              </a:rPr>
              <a:t>) specifically for the younger group.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Here is the key finding. All three interventions reduced the bias below the bank’s original level. The best approach was </a:t>
            </a:r>
            <a:r>
              <a:rPr lang="en-US" sz="1200" b="1" i="0" kern="1200" dirty="0">
                <a:solidFill>
                  <a:schemeClr val="tx1"/>
                </a:solidFill>
                <a:effectLst/>
                <a:latin typeface="+mn-lt"/>
                <a:ea typeface="+mn-ea"/>
                <a:cs typeface="+mn-cs"/>
              </a:rPr>
              <a:t>post-training adjustment</a:t>
            </a:r>
            <a:r>
              <a:rPr lang="en-US" sz="1200" b="0" i="0" u="none" strike="noStrike" kern="1200" dirty="0">
                <a:solidFill>
                  <a:schemeClr val="tx1"/>
                </a:solidFill>
                <a:effectLst/>
                <a:latin typeface="+mn-lt"/>
                <a:ea typeface="+mn-ea"/>
                <a:cs typeface="+mn-cs"/>
              </a:rPr>
              <a:t>, cutting the bias by 43% with </a:t>
            </a:r>
            <a:r>
              <a:rPr lang="en-US" sz="1200" b="0" i="1" kern="1200" dirty="0">
                <a:solidFill>
                  <a:schemeClr val="tx1"/>
                </a:solidFill>
                <a:effectLst/>
                <a:latin typeface="+mn-lt"/>
                <a:ea typeface="+mn-ea"/>
                <a:cs typeface="+mn-cs"/>
              </a:rPr>
              <a:t>zero</a:t>
            </a:r>
            <a:r>
              <a:rPr lang="en-US" sz="1200" b="0" i="0" u="none" strike="noStrike" kern="1200" dirty="0">
                <a:solidFill>
                  <a:schemeClr val="tx1"/>
                </a:solidFill>
                <a:effectLst/>
                <a:latin typeface="+mn-lt"/>
                <a:ea typeface="+mn-ea"/>
                <a:cs typeface="+mn-cs"/>
              </a:rPr>
              <a:t> loss in model accuracy. Reweighing was nearly as good, while the cost-weighted model was less effective because it wasn't specifically targeting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Three main takeaways: </a:t>
            </a:r>
            <a:endParaRPr lang="ru-RU"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First, algorithmic amplification is real. </a:t>
            </a:r>
            <a:endParaRPr lang="ru-RU"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Second, it is fully reducible</a:t>
            </a:r>
            <a:r>
              <a:rPr lang="ru-RU" sz="1200" b="0" i="0" u="none" strike="noStrike" kern="1200" dirty="0">
                <a:solidFill>
                  <a:schemeClr val="tx1"/>
                </a:solidFill>
                <a:effectLst/>
                <a:latin typeface="+mn-lt"/>
                <a:ea typeface="+mn-ea"/>
                <a:cs typeface="+mn-cs"/>
              </a:rPr>
              <a:t> - </a:t>
            </a:r>
            <a:r>
              <a:rPr lang="en-US" sz="1200" b="0" i="0" u="none" strike="noStrike" kern="1200" dirty="0">
                <a:solidFill>
                  <a:schemeClr val="tx1"/>
                </a:solidFill>
                <a:effectLst/>
                <a:latin typeface="+mn-lt"/>
                <a:ea typeface="+mn-ea"/>
                <a:cs typeface="+mn-cs"/>
              </a:rPr>
              <a:t>we can cut bias by half without losing predictive power. </a:t>
            </a:r>
            <a:endParaRPr lang="ru-RU"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Third, design intent matters. A quick limitation: we are measuring equality relative to human labels, not actual creditworthiness. But the bottom line is clear: deploying a model without a fairness audit is never a neutral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To wrap up: a standard Random Forest amplifies historical bias, but targeted interventions can effectively correct it. Fairness is not an 'optional add-on'; it’s part of responsible deployment. Thank you</a:t>
            </a:r>
            <a:r>
              <a:rPr lang="ru-RU" sz="1200" b="0" i="0" u="none" strike="noStrike" kern="1200" dirty="0">
                <a:solidFill>
                  <a:schemeClr val="tx1"/>
                </a:solidFill>
                <a:effectLst/>
                <a:latin typeface="+mn-lt"/>
                <a:ea typeface="+mn-ea"/>
                <a:cs typeface="+mn-cs"/>
              </a:rPr>
              <a:t> - </a:t>
            </a:r>
            <a:r>
              <a:rPr lang="en-US" sz="1200" b="0" i="0" u="none" strike="noStrike" kern="1200" dirty="0">
                <a:solidFill>
                  <a:schemeClr val="tx1"/>
                </a:solidFill>
                <a:effectLst/>
                <a:latin typeface="+mn-lt"/>
                <a:ea typeface="+mn-ea"/>
                <a:cs typeface="+mn-cs"/>
              </a:rPr>
              <a:t>I’d love to hear your thoughts on these metrics or the limitations of our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9F9"/>
        </a:solidFill>
        <a:effectLst/>
      </p:bgPr>
    </p:bg>
    <p:spTree>
      <p:nvGrpSpPr>
        <p:cNvPr id="1" name=""/>
        <p:cNvGrpSpPr/>
        <p:nvPr/>
      </p:nvGrpSpPr>
      <p:grpSpPr>
        <a:xfrm>
          <a:off x="0" y="0"/>
          <a:ext cx="0" cy="0"/>
          <a:chOff x="0" y="0"/>
          <a:chExt cx="0" cy="0"/>
        </a:xfrm>
      </p:grpSpPr>
      <p:sp>
        <p:nvSpPr>
          <p:cNvPr id="5" name="Text 3"/>
          <p:cNvSpPr/>
          <p:nvPr/>
        </p:nvSpPr>
        <p:spPr>
          <a:xfrm>
            <a:off x="457200" y="514350"/>
            <a:ext cx="8229600" cy="320040"/>
          </a:xfrm>
          <a:prstGeom prst="rect">
            <a:avLst/>
          </a:prstGeom>
          <a:noFill/>
          <a:ln/>
        </p:spPr>
        <p:txBody>
          <a:bodyPr wrap="square" lIns="0" tIns="0" rIns="0" bIns="0" rtlCol="0" anchor="ctr"/>
          <a:lstStyle/>
          <a:p>
            <a:pPr marL="0" indent="0">
              <a:buNone/>
            </a:pPr>
            <a:r>
              <a:rPr lang="en-US" sz="1000" kern="0" spc="300" dirty="0">
                <a:solidFill>
                  <a:srgbClr val="131313"/>
                </a:solidFill>
                <a:latin typeface="Calibri" pitchFamily="34" charset="0"/>
                <a:ea typeface="Calibri" pitchFamily="34" charset="-122"/>
                <a:cs typeface="Calibri" pitchFamily="34" charset="-120"/>
              </a:rPr>
              <a:t>SEMINAR PAPER  ·  AI &amp; ETHICS</a:t>
            </a:r>
            <a:endParaRPr lang="en-US" sz="1000" dirty="0">
              <a:solidFill>
                <a:srgbClr val="131313"/>
              </a:solidFill>
            </a:endParaRPr>
          </a:p>
        </p:txBody>
      </p:sp>
      <p:sp>
        <p:nvSpPr>
          <p:cNvPr id="6" name="Text 4"/>
          <p:cNvSpPr/>
          <p:nvPr/>
        </p:nvSpPr>
        <p:spPr>
          <a:xfrm>
            <a:off x="457200" y="1216152"/>
            <a:ext cx="8229600" cy="960120"/>
          </a:xfrm>
          <a:prstGeom prst="rect">
            <a:avLst/>
          </a:prstGeom>
          <a:noFill/>
          <a:ln/>
        </p:spPr>
        <p:txBody>
          <a:bodyPr wrap="square" lIns="0" tIns="0" rIns="0" bIns="0" rtlCol="0" anchor="ctr"/>
          <a:lstStyle/>
          <a:p>
            <a:pPr marL="0" indent="0">
              <a:buNone/>
            </a:pPr>
            <a:r>
              <a:rPr lang="en-US" sz="4200" b="1" dirty="0">
                <a:solidFill>
                  <a:srgbClr val="131313"/>
                </a:solidFill>
                <a:latin typeface="Cambria" pitchFamily="34" charset="0"/>
                <a:ea typeface="Cambria" pitchFamily="34" charset="-122"/>
                <a:cs typeface="Cambria" pitchFamily="34" charset="-120"/>
              </a:rPr>
              <a:t>Fair Credit Assessment</a:t>
            </a:r>
            <a:endParaRPr lang="en-US" sz="4200" dirty="0">
              <a:solidFill>
                <a:srgbClr val="131313"/>
              </a:solidFill>
            </a:endParaRPr>
          </a:p>
        </p:txBody>
      </p:sp>
      <p:sp>
        <p:nvSpPr>
          <p:cNvPr id="7" name="Text 5"/>
          <p:cNvSpPr/>
          <p:nvPr/>
        </p:nvSpPr>
        <p:spPr>
          <a:xfrm>
            <a:off x="457200" y="2145216"/>
            <a:ext cx="8229600" cy="640080"/>
          </a:xfrm>
          <a:prstGeom prst="rect">
            <a:avLst/>
          </a:prstGeom>
          <a:noFill/>
          <a:ln/>
        </p:spPr>
        <p:txBody>
          <a:bodyPr wrap="square" lIns="0" tIns="0" rIns="0" bIns="0" rtlCol="0" anchor="ctr"/>
          <a:lstStyle/>
          <a:p>
            <a:pPr marL="0" indent="0">
              <a:buNone/>
            </a:pPr>
            <a:r>
              <a:rPr lang="en-US" sz="2600" i="1" dirty="0">
                <a:solidFill>
                  <a:srgbClr val="131313"/>
                </a:solidFill>
                <a:latin typeface="Cambria" pitchFamily="34" charset="0"/>
                <a:ea typeface="Cambria" pitchFamily="34" charset="-122"/>
                <a:cs typeface="Cambria" pitchFamily="34" charset="-120"/>
              </a:rPr>
              <a:t>Bias Mitigation in Machine Learning</a:t>
            </a:r>
            <a:endParaRPr lang="en-US" sz="2600" dirty="0">
              <a:solidFill>
                <a:srgbClr val="131313"/>
              </a:solidFill>
            </a:endParaRPr>
          </a:p>
        </p:txBody>
      </p:sp>
      <p:sp>
        <p:nvSpPr>
          <p:cNvPr id="8" name="Shape 6"/>
          <p:cNvSpPr/>
          <p:nvPr/>
        </p:nvSpPr>
        <p:spPr>
          <a:xfrm>
            <a:off x="457200" y="2930652"/>
            <a:ext cx="4114800" cy="45719"/>
          </a:xfrm>
          <a:prstGeom prst="rect">
            <a:avLst/>
          </a:prstGeom>
          <a:solidFill>
            <a:srgbClr val="131313"/>
          </a:solidFill>
          <a:ln w="12700">
            <a:solidFill>
              <a:srgbClr val="131313"/>
            </a:solidFill>
            <a:prstDash val="solid"/>
          </a:ln>
        </p:spPr>
      </p:sp>
      <p:sp>
        <p:nvSpPr>
          <p:cNvPr id="9" name="Text 7"/>
          <p:cNvSpPr/>
          <p:nvPr/>
        </p:nvSpPr>
        <p:spPr>
          <a:xfrm>
            <a:off x="457200" y="3279834"/>
            <a:ext cx="8229600" cy="411480"/>
          </a:xfrm>
          <a:prstGeom prst="rect">
            <a:avLst/>
          </a:prstGeom>
          <a:noFill/>
          <a:ln/>
        </p:spPr>
        <p:txBody>
          <a:bodyPr wrap="square" lIns="0" tIns="0" rIns="0" bIns="0" rtlCol="0" anchor="ctr"/>
          <a:lstStyle/>
          <a:p>
            <a:pPr marL="0" indent="0">
              <a:buNone/>
            </a:pPr>
            <a:r>
              <a:rPr lang="en-US" sz="1400" dirty="0">
                <a:solidFill>
                  <a:srgbClr val="131313"/>
                </a:solidFill>
                <a:latin typeface="Calibri" pitchFamily="34" charset="0"/>
                <a:ea typeface="Calibri" pitchFamily="34" charset="-122"/>
                <a:cs typeface="Calibri" pitchFamily="34" charset="-120"/>
              </a:rPr>
              <a:t>An Empirical Study of Age Bias in the German Credit Dataset</a:t>
            </a:r>
            <a:endParaRPr lang="en-US" sz="1400" dirty="0">
              <a:solidFill>
                <a:srgbClr val="131313"/>
              </a:solidFill>
            </a:endParaRPr>
          </a:p>
        </p:txBody>
      </p:sp>
      <p:sp>
        <p:nvSpPr>
          <p:cNvPr id="10" name="Text 8"/>
          <p:cNvSpPr/>
          <p:nvPr/>
        </p:nvSpPr>
        <p:spPr>
          <a:xfrm>
            <a:off x="478276" y="4400550"/>
            <a:ext cx="8229600" cy="320040"/>
          </a:xfrm>
          <a:prstGeom prst="rect">
            <a:avLst/>
          </a:prstGeom>
          <a:noFill/>
          <a:ln/>
        </p:spPr>
        <p:txBody>
          <a:bodyPr wrap="square" lIns="0" tIns="0" rIns="0" bIns="0" rtlCol="0" anchor="ctr"/>
          <a:lstStyle/>
          <a:p>
            <a:pPr marL="0" indent="0">
              <a:buNone/>
            </a:pPr>
            <a:r>
              <a:rPr lang="en-US" sz="1000" dirty="0">
                <a:solidFill>
                  <a:srgbClr val="131313"/>
                </a:solidFill>
                <a:latin typeface="Calibri" pitchFamily="34" charset="0"/>
                <a:ea typeface="Calibri" pitchFamily="34" charset="-122"/>
                <a:cs typeface="Calibri" pitchFamily="34" charset="-120"/>
              </a:rPr>
              <a:t>German Credit Data (UCI, 1994)  ·  Random Forest Classifier  ·  Three Fairness Interventions</a:t>
            </a:r>
            <a:endParaRPr lang="en-US" sz="1000" dirty="0">
              <a:solidFill>
                <a:srgbClr val="131313"/>
              </a:solidFill>
            </a:endParaRPr>
          </a:p>
        </p:txBody>
      </p:sp>
      <p:sp>
        <p:nvSpPr>
          <p:cNvPr id="12" name="Text 7">
            <a:extLst>
              <a:ext uri="{FF2B5EF4-FFF2-40B4-BE49-F238E27FC236}">
                <a16:creationId xmlns:a16="http://schemas.microsoft.com/office/drawing/2014/main" id="{186ACAAA-489D-BEDD-7CC2-8CFF4C3F072E}"/>
              </a:ext>
            </a:extLst>
          </p:cNvPr>
          <p:cNvSpPr/>
          <p:nvPr/>
        </p:nvSpPr>
        <p:spPr>
          <a:xfrm>
            <a:off x="457200" y="3927348"/>
            <a:ext cx="8229600" cy="411480"/>
          </a:xfrm>
          <a:prstGeom prst="rect">
            <a:avLst/>
          </a:prstGeom>
          <a:noFill/>
          <a:ln/>
        </p:spPr>
        <p:txBody>
          <a:bodyPr wrap="square" lIns="0" tIns="0" rIns="0" bIns="0" rtlCol="0" anchor="ctr"/>
          <a:lstStyle/>
          <a:p>
            <a:pPr marL="0" indent="0">
              <a:buNone/>
            </a:pPr>
            <a:r>
              <a:rPr lang="en-US" sz="1200" i="1" dirty="0">
                <a:solidFill>
                  <a:srgbClr val="131313"/>
                </a:solidFill>
                <a:latin typeface="Calibri" pitchFamily="34" charset="0"/>
                <a:ea typeface="Calibri" pitchFamily="34" charset="-122"/>
                <a:cs typeface="Calibri" pitchFamily="34" charset="-120"/>
              </a:rPr>
              <a:t>Ephraim Shochat</a:t>
            </a:r>
            <a:endParaRPr lang="en-US" sz="1200" i="1" dirty="0">
              <a:solidFill>
                <a:srgbClr val="13131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3648"/>
            <a:ext cx="9144000" cy="960120"/>
          </a:xfrm>
          <a:prstGeom prst="rect">
            <a:avLst/>
          </a:prstGeom>
          <a:solidFill>
            <a:srgbClr val="131313"/>
          </a:solidFill>
          <a:ln w="12700">
            <a:solidFill>
              <a:srgbClr val="131313"/>
            </a:solidFill>
            <a:prstDash val="solid"/>
          </a:ln>
        </p:spPr>
      </p:sp>
      <p:sp>
        <p:nvSpPr>
          <p:cNvPr id="3" name="Text 1"/>
          <p:cNvSpPr/>
          <p:nvPr/>
        </p:nvSpPr>
        <p:spPr>
          <a:xfrm>
            <a:off x="457200" y="0"/>
            <a:ext cx="8229600" cy="963768"/>
          </a:xfrm>
          <a:prstGeom prst="rect">
            <a:avLst/>
          </a:prstGeom>
          <a:noFill/>
          <a:ln/>
        </p:spPr>
        <p:txBody>
          <a:bodyPr wrap="square" lIns="0" tIns="0" rIns="0" bIns="0" rtlCol="0" anchor="ctr"/>
          <a:lstStyle/>
          <a:p>
            <a:pPr marL="0" indent="0">
              <a:buNone/>
            </a:pPr>
            <a:r>
              <a:rPr lang="en-US" sz="3000" b="1" dirty="0">
                <a:solidFill>
                  <a:srgbClr val="F9F9F9"/>
                </a:solidFill>
                <a:latin typeface="Cambria" pitchFamily="34" charset="0"/>
                <a:ea typeface="Cambria" pitchFamily="34" charset="-122"/>
                <a:cs typeface="Cambria" pitchFamily="34" charset="-120"/>
              </a:rPr>
              <a:t>Overview</a:t>
            </a:r>
            <a:endParaRPr lang="en-US" sz="3000" dirty="0"/>
          </a:p>
        </p:txBody>
      </p:sp>
      <p:sp>
        <p:nvSpPr>
          <p:cNvPr id="4" name="Shape 2"/>
          <p:cNvSpPr/>
          <p:nvPr/>
        </p:nvSpPr>
        <p:spPr>
          <a:xfrm>
            <a:off x="457200" y="1188720"/>
            <a:ext cx="1572768" cy="3440430"/>
          </a:xfrm>
          <a:prstGeom prst="roundRect">
            <a:avLst>
              <a:gd name="adj" fmla="val 5814"/>
            </a:avLst>
          </a:prstGeom>
          <a:solidFill>
            <a:srgbClr val="F9F9F9"/>
          </a:solidFill>
          <a:ln/>
          <a:effectLst>
            <a:outerShdw blurRad="101600" dist="25400" dir="2700000" algn="bl" rotWithShape="0">
              <a:srgbClr val="000000">
                <a:alpha val="10000"/>
              </a:srgbClr>
            </a:outerShdw>
          </a:effectLst>
        </p:spPr>
      </p:sp>
      <p:sp>
        <p:nvSpPr>
          <p:cNvPr id="5" name="Text 3"/>
          <p:cNvSpPr/>
          <p:nvPr/>
        </p:nvSpPr>
        <p:spPr>
          <a:xfrm>
            <a:off x="576072" y="1316736"/>
            <a:ext cx="1426464" cy="640080"/>
          </a:xfrm>
          <a:prstGeom prst="rect">
            <a:avLst/>
          </a:prstGeom>
          <a:noFill/>
          <a:ln/>
        </p:spPr>
        <p:txBody>
          <a:bodyPr wrap="square" lIns="0" tIns="0" rIns="0" bIns="0" rtlCol="0" anchor="ctr"/>
          <a:lstStyle/>
          <a:p>
            <a:pPr marL="0" indent="0">
              <a:buNone/>
            </a:pPr>
            <a:r>
              <a:rPr lang="en-US" sz="3000" b="1" dirty="0">
                <a:solidFill>
                  <a:srgbClr val="131313"/>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594360" y="1993392"/>
            <a:ext cx="1389888" cy="502920"/>
          </a:xfrm>
          <a:prstGeom prst="rect">
            <a:avLst/>
          </a:prstGeom>
          <a:noFill/>
          <a:ln/>
        </p:spPr>
        <p:txBody>
          <a:bodyPr wrap="square" lIns="0" tIns="0" rIns="0" bIns="0" rtlCol="0" anchor="ctr"/>
          <a:lstStyle/>
          <a:p>
            <a:pPr marL="0" indent="0">
              <a:buNone/>
            </a:pPr>
            <a:r>
              <a:rPr lang="en-US" sz="1400" b="1" dirty="0">
                <a:solidFill>
                  <a:srgbClr val="131313"/>
                </a:solidFill>
                <a:latin typeface="Cambria" pitchFamily="34" charset="0"/>
                <a:ea typeface="Cambria" pitchFamily="34" charset="-122"/>
                <a:cs typeface="Cambria" pitchFamily="34" charset="-120"/>
              </a:rPr>
              <a:t>Motivation</a:t>
            </a:r>
            <a:endParaRPr lang="en-US" sz="1400" dirty="0">
              <a:solidFill>
                <a:srgbClr val="131313"/>
              </a:solidFill>
            </a:endParaRPr>
          </a:p>
        </p:txBody>
      </p:sp>
      <p:sp>
        <p:nvSpPr>
          <p:cNvPr id="7" name="Text 5"/>
          <p:cNvSpPr/>
          <p:nvPr/>
        </p:nvSpPr>
        <p:spPr>
          <a:xfrm>
            <a:off x="557784" y="2560320"/>
            <a:ext cx="1426464" cy="1645920"/>
          </a:xfrm>
          <a:prstGeom prst="rect">
            <a:avLst/>
          </a:prstGeom>
          <a:noFill/>
          <a:ln/>
        </p:spPr>
        <p:txBody>
          <a:bodyPr wrap="square" lIns="0" tIns="0" rIns="0" bIns="0" rtlCol="0" anchor="ctr"/>
          <a:lstStyle/>
          <a:p>
            <a:pPr marL="0" indent="0">
              <a:buNone/>
            </a:pPr>
            <a:r>
              <a:rPr lang="en-US" sz="1100" dirty="0">
                <a:solidFill>
                  <a:srgbClr val="868686"/>
                </a:solidFill>
                <a:latin typeface="Calibri" pitchFamily="34" charset="0"/>
                <a:ea typeface="Calibri" pitchFamily="34" charset="-122"/>
                <a:cs typeface="Calibri" pitchFamily="34" charset="-120"/>
              </a:rPr>
              <a:t>Why automated credit scoring creates fairness risks</a:t>
            </a:r>
            <a:endParaRPr lang="en-US" sz="1100" dirty="0">
              <a:solidFill>
                <a:srgbClr val="868686"/>
              </a:solidFill>
            </a:endParaRPr>
          </a:p>
        </p:txBody>
      </p:sp>
      <p:sp>
        <p:nvSpPr>
          <p:cNvPr id="8" name="Shape 6"/>
          <p:cNvSpPr/>
          <p:nvPr/>
        </p:nvSpPr>
        <p:spPr>
          <a:xfrm>
            <a:off x="2151126" y="1188720"/>
            <a:ext cx="1572768" cy="3440430"/>
          </a:xfrm>
          <a:prstGeom prst="roundRect">
            <a:avLst>
              <a:gd name="adj" fmla="val 5814"/>
            </a:avLst>
          </a:prstGeom>
          <a:solidFill>
            <a:srgbClr val="F9F9F9"/>
          </a:solidFill>
          <a:ln/>
          <a:effectLst>
            <a:outerShdw blurRad="101600" dist="25400" dir="2700000" algn="bl" rotWithShape="0">
              <a:srgbClr val="000000">
                <a:alpha val="10000"/>
              </a:srgbClr>
            </a:outerShdw>
          </a:effectLst>
        </p:spPr>
      </p:sp>
      <p:sp>
        <p:nvSpPr>
          <p:cNvPr id="9" name="Text 7"/>
          <p:cNvSpPr/>
          <p:nvPr/>
        </p:nvSpPr>
        <p:spPr>
          <a:xfrm>
            <a:off x="2258568" y="1316736"/>
            <a:ext cx="1426464" cy="640080"/>
          </a:xfrm>
          <a:prstGeom prst="rect">
            <a:avLst/>
          </a:prstGeom>
          <a:noFill/>
          <a:ln/>
        </p:spPr>
        <p:txBody>
          <a:bodyPr wrap="square" lIns="0" tIns="0" rIns="0" bIns="0" rtlCol="0" anchor="ctr"/>
          <a:lstStyle/>
          <a:p>
            <a:pPr marL="0" indent="0">
              <a:buNone/>
            </a:pPr>
            <a:r>
              <a:rPr lang="en-US" sz="3000" b="1" dirty="0">
                <a:solidFill>
                  <a:srgbClr val="131313"/>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2276856" y="1993392"/>
            <a:ext cx="1389888" cy="502920"/>
          </a:xfrm>
          <a:prstGeom prst="rect">
            <a:avLst/>
          </a:prstGeom>
          <a:noFill/>
          <a:ln/>
        </p:spPr>
        <p:txBody>
          <a:bodyPr wrap="square" lIns="0" tIns="0" rIns="0" bIns="0" rtlCol="0" anchor="ctr"/>
          <a:lstStyle/>
          <a:p>
            <a:pPr marL="0" indent="0">
              <a:buNone/>
            </a:pPr>
            <a:r>
              <a:rPr lang="en-US" sz="1400" b="1" dirty="0">
                <a:solidFill>
                  <a:srgbClr val="131313"/>
                </a:solidFill>
                <a:latin typeface="Cambria" pitchFamily="34" charset="0"/>
                <a:ea typeface="Cambria" pitchFamily="34" charset="-122"/>
                <a:cs typeface="Cambria" pitchFamily="34" charset="-120"/>
              </a:rPr>
              <a:t>Data &amp; Disparity</a:t>
            </a:r>
            <a:endParaRPr lang="en-US" sz="1400" dirty="0">
              <a:solidFill>
                <a:srgbClr val="131313"/>
              </a:solidFill>
            </a:endParaRPr>
          </a:p>
        </p:txBody>
      </p:sp>
      <p:sp>
        <p:nvSpPr>
          <p:cNvPr id="11" name="Text 9"/>
          <p:cNvSpPr/>
          <p:nvPr/>
        </p:nvSpPr>
        <p:spPr>
          <a:xfrm>
            <a:off x="2240280" y="2560320"/>
            <a:ext cx="1426464" cy="1645920"/>
          </a:xfrm>
          <a:prstGeom prst="rect">
            <a:avLst/>
          </a:prstGeom>
          <a:noFill/>
          <a:ln/>
        </p:spPr>
        <p:txBody>
          <a:bodyPr wrap="square" lIns="0" tIns="0" rIns="0" bIns="0" rtlCol="0" anchor="ctr"/>
          <a:lstStyle/>
          <a:p>
            <a:pPr marL="0" indent="0">
              <a:buNone/>
            </a:pPr>
            <a:r>
              <a:rPr lang="en-US" sz="1100" dirty="0">
                <a:solidFill>
                  <a:srgbClr val="868686"/>
                </a:solidFill>
                <a:latin typeface="Calibri" pitchFamily="34" charset="0"/>
                <a:ea typeface="Calibri" pitchFamily="34" charset="-122"/>
                <a:cs typeface="Calibri" pitchFamily="34" charset="-120"/>
              </a:rPr>
              <a:t>German Credit Dataset - measuring the age gap</a:t>
            </a:r>
            <a:endParaRPr lang="en-US" sz="1100" dirty="0">
              <a:solidFill>
                <a:srgbClr val="868686"/>
              </a:solidFill>
            </a:endParaRPr>
          </a:p>
        </p:txBody>
      </p:sp>
      <p:sp>
        <p:nvSpPr>
          <p:cNvPr id="12" name="Shape 10"/>
          <p:cNvSpPr/>
          <p:nvPr/>
        </p:nvSpPr>
        <p:spPr>
          <a:xfrm>
            <a:off x="3845052" y="1188720"/>
            <a:ext cx="1572768" cy="3440430"/>
          </a:xfrm>
          <a:prstGeom prst="roundRect">
            <a:avLst>
              <a:gd name="adj" fmla="val 5814"/>
            </a:avLst>
          </a:prstGeom>
          <a:solidFill>
            <a:srgbClr val="F9F9F9"/>
          </a:solidFill>
          <a:ln/>
          <a:effectLst>
            <a:outerShdw blurRad="101600" dist="25400" dir="2700000" algn="bl" rotWithShape="0">
              <a:srgbClr val="000000">
                <a:alpha val="10000"/>
              </a:srgbClr>
            </a:outerShdw>
          </a:effectLst>
        </p:spPr>
      </p:sp>
      <p:sp>
        <p:nvSpPr>
          <p:cNvPr id="13" name="Text 11"/>
          <p:cNvSpPr/>
          <p:nvPr/>
        </p:nvSpPr>
        <p:spPr>
          <a:xfrm>
            <a:off x="3941064" y="1316736"/>
            <a:ext cx="1426464" cy="640080"/>
          </a:xfrm>
          <a:prstGeom prst="rect">
            <a:avLst/>
          </a:prstGeom>
          <a:noFill/>
          <a:ln/>
        </p:spPr>
        <p:txBody>
          <a:bodyPr wrap="square" lIns="0" tIns="0" rIns="0" bIns="0" rtlCol="0" anchor="ctr"/>
          <a:lstStyle/>
          <a:p>
            <a:pPr marL="0" indent="0">
              <a:buNone/>
            </a:pPr>
            <a:r>
              <a:rPr lang="en-US" sz="3000" b="1" dirty="0">
                <a:solidFill>
                  <a:srgbClr val="131313"/>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3959352" y="1993392"/>
            <a:ext cx="1389888" cy="502920"/>
          </a:xfrm>
          <a:prstGeom prst="rect">
            <a:avLst/>
          </a:prstGeom>
          <a:noFill/>
          <a:ln/>
        </p:spPr>
        <p:txBody>
          <a:bodyPr wrap="square" lIns="0" tIns="0" rIns="0" bIns="0" rtlCol="0" anchor="ctr"/>
          <a:lstStyle/>
          <a:p>
            <a:pPr marL="0" indent="0">
              <a:buNone/>
            </a:pPr>
            <a:r>
              <a:rPr lang="en-US" sz="1400" b="1" dirty="0">
                <a:solidFill>
                  <a:srgbClr val="131313"/>
                </a:solidFill>
                <a:latin typeface="Cambria" pitchFamily="34" charset="0"/>
                <a:ea typeface="Cambria" pitchFamily="34" charset="-122"/>
                <a:cs typeface="Cambria" pitchFamily="34" charset="-120"/>
              </a:rPr>
              <a:t>Baseline Model</a:t>
            </a:r>
            <a:endParaRPr lang="en-US" sz="1400" dirty="0">
              <a:solidFill>
                <a:srgbClr val="131313"/>
              </a:solidFill>
            </a:endParaRPr>
          </a:p>
        </p:txBody>
      </p:sp>
      <p:sp>
        <p:nvSpPr>
          <p:cNvPr id="15" name="Text 13"/>
          <p:cNvSpPr/>
          <p:nvPr/>
        </p:nvSpPr>
        <p:spPr>
          <a:xfrm>
            <a:off x="3922776" y="2560320"/>
            <a:ext cx="1426464" cy="1645920"/>
          </a:xfrm>
          <a:prstGeom prst="rect">
            <a:avLst/>
          </a:prstGeom>
          <a:noFill/>
          <a:ln/>
        </p:spPr>
        <p:txBody>
          <a:bodyPr wrap="square" lIns="0" tIns="0" rIns="0" bIns="0" rtlCol="0" anchor="ctr"/>
          <a:lstStyle/>
          <a:p>
            <a:pPr marL="0" indent="0">
              <a:buNone/>
            </a:pPr>
            <a:r>
              <a:rPr lang="en-US" sz="1100" dirty="0">
                <a:solidFill>
                  <a:srgbClr val="868686"/>
                </a:solidFill>
                <a:latin typeface="Calibri" pitchFamily="34" charset="0"/>
                <a:ea typeface="Calibri" pitchFamily="34" charset="-122"/>
                <a:cs typeface="Calibri" pitchFamily="34" charset="-120"/>
              </a:rPr>
              <a:t>A Random Forest that amplifies historical bias</a:t>
            </a:r>
            <a:endParaRPr lang="en-US" sz="1100" dirty="0">
              <a:solidFill>
                <a:srgbClr val="868686"/>
              </a:solidFill>
            </a:endParaRPr>
          </a:p>
        </p:txBody>
      </p:sp>
      <p:sp>
        <p:nvSpPr>
          <p:cNvPr id="16" name="Shape 14"/>
          <p:cNvSpPr/>
          <p:nvPr/>
        </p:nvSpPr>
        <p:spPr>
          <a:xfrm>
            <a:off x="5538978" y="1188720"/>
            <a:ext cx="1572768" cy="3440430"/>
          </a:xfrm>
          <a:prstGeom prst="roundRect">
            <a:avLst>
              <a:gd name="adj" fmla="val 5814"/>
            </a:avLst>
          </a:prstGeom>
          <a:solidFill>
            <a:srgbClr val="F9F9F9"/>
          </a:solidFill>
          <a:ln/>
          <a:effectLst>
            <a:outerShdw blurRad="101600" dist="25400" dir="2700000" algn="bl" rotWithShape="0">
              <a:srgbClr val="000000">
                <a:alpha val="10000"/>
              </a:srgbClr>
            </a:outerShdw>
          </a:effectLst>
        </p:spPr>
      </p:sp>
      <p:sp>
        <p:nvSpPr>
          <p:cNvPr id="17" name="Text 15"/>
          <p:cNvSpPr/>
          <p:nvPr/>
        </p:nvSpPr>
        <p:spPr>
          <a:xfrm>
            <a:off x="5623560" y="1316736"/>
            <a:ext cx="1426464" cy="640080"/>
          </a:xfrm>
          <a:prstGeom prst="rect">
            <a:avLst/>
          </a:prstGeom>
          <a:noFill/>
          <a:ln/>
        </p:spPr>
        <p:txBody>
          <a:bodyPr wrap="square" lIns="0" tIns="0" rIns="0" bIns="0" rtlCol="0" anchor="ctr"/>
          <a:lstStyle/>
          <a:p>
            <a:pPr marL="0" indent="0">
              <a:buNone/>
            </a:pPr>
            <a:r>
              <a:rPr lang="en-US" sz="3000" b="1" dirty="0">
                <a:solidFill>
                  <a:srgbClr val="131313"/>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5641848" y="1993392"/>
            <a:ext cx="1389888" cy="502920"/>
          </a:xfrm>
          <a:prstGeom prst="rect">
            <a:avLst/>
          </a:prstGeom>
          <a:noFill/>
          <a:ln/>
        </p:spPr>
        <p:txBody>
          <a:bodyPr wrap="square" lIns="0" tIns="0" rIns="0" bIns="0" rtlCol="0" anchor="ctr"/>
          <a:lstStyle/>
          <a:p>
            <a:pPr marL="0" indent="0">
              <a:buNone/>
            </a:pPr>
            <a:r>
              <a:rPr lang="en-US" sz="1400" b="1" dirty="0">
                <a:solidFill>
                  <a:srgbClr val="131313"/>
                </a:solidFill>
                <a:latin typeface="Cambria" pitchFamily="34" charset="0"/>
                <a:ea typeface="Cambria" pitchFamily="34" charset="-122"/>
                <a:cs typeface="Cambria" pitchFamily="34" charset="-120"/>
              </a:rPr>
              <a:t>Three Interventions</a:t>
            </a:r>
            <a:endParaRPr lang="en-US" sz="1400" dirty="0">
              <a:solidFill>
                <a:srgbClr val="131313"/>
              </a:solidFill>
            </a:endParaRPr>
          </a:p>
        </p:txBody>
      </p:sp>
      <p:sp>
        <p:nvSpPr>
          <p:cNvPr id="19" name="Text 17"/>
          <p:cNvSpPr/>
          <p:nvPr/>
        </p:nvSpPr>
        <p:spPr>
          <a:xfrm>
            <a:off x="5623560" y="2560320"/>
            <a:ext cx="1408176" cy="1645920"/>
          </a:xfrm>
          <a:prstGeom prst="rect">
            <a:avLst/>
          </a:prstGeom>
          <a:noFill/>
          <a:ln/>
        </p:spPr>
        <p:txBody>
          <a:bodyPr wrap="square" lIns="0" tIns="0" rIns="0" bIns="0" rtlCol="0" anchor="ctr"/>
          <a:lstStyle/>
          <a:p>
            <a:pPr marL="0" indent="0">
              <a:buNone/>
            </a:pPr>
            <a:r>
              <a:rPr lang="en-US" sz="1100" dirty="0">
                <a:solidFill>
                  <a:srgbClr val="868686"/>
                </a:solidFill>
                <a:latin typeface="Calibri" pitchFamily="34" charset="0"/>
                <a:ea typeface="Calibri" pitchFamily="34" charset="-122"/>
                <a:cs typeface="Calibri" pitchFamily="34" charset="-120"/>
              </a:rPr>
              <a:t>Pre-, in-, and post-training fairness corrections</a:t>
            </a:r>
            <a:endParaRPr lang="en-US" sz="1100" dirty="0">
              <a:solidFill>
                <a:srgbClr val="868686"/>
              </a:solidFill>
            </a:endParaRPr>
          </a:p>
        </p:txBody>
      </p:sp>
      <p:sp>
        <p:nvSpPr>
          <p:cNvPr id="20" name="Shape 18"/>
          <p:cNvSpPr/>
          <p:nvPr/>
        </p:nvSpPr>
        <p:spPr>
          <a:xfrm>
            <a:off x="7232904" y="1188720"/>
            <a:ext cx="1572768" cy="3440430"/>
          </a:xfrm>
          <a:prstGeom prst="roundRect">
            <a:avLst>
              <a:gd name="adj" fmla="val 5814"/>
            </a:avLst>
          </a:prstGeom>
          <a:solidFill>
            <a:srgbClr val="F9F9F9"/>
          </a:solidFill>
          <a:ln/>
          <a:effectLst>
            <a:outerShdw blurRad="101600" dist="25400" dir="2700000" algn="bl" rotWithShape="0">
              <a:srgbClr val="000000">
                <a:alpha val="10000"/>
              </a:srgbClr>
            </a:outerShdw>
          </a:effectLst>
        </p:spPr>
      </p:sp>
      <p:sp>
        <p:nvSpPr>
          <p:cNvPr id="21" name="Text 19"/>
          <p:cNvSpPr/>
          <p:nvPr/>
        </p:nvSpPr>
        <p:spPr>
          <a:xfrm>
            <a:off x="7306056" y="1316736"/>
            <a:ext cx="1426464" cy="640080"/>
          </a:xfrm>
          <a:prstGeom prst="rect">
            <a:avLst/>
          </a:prstGeom>
          <a:noFill/>
          <a:ln/>
        </p:spPr>
        <p:txBody>
          <a:bodyPr wrap="square" lIns="0" tIns="0" rIns="0" bIns="0" rtlCol="0" anchor="ctr"/>
          <a:lstStyle/>
          <a:p>
            <a:pPr marL="0" indent="0">
              <a:buNone/>
            </a:pPr>
            <a:r>
              <a:rPr lang="en-US" sz="3000" b="1" dirty="0">
                <a:solidFill>
                  <a:srgbClr val="131313"/>
                </a:solidFill>
                <a:latin typeface="Cambria" pitchFamily="34" charset="0"/>
                <a:ea typeface="Cambria" pitchFamily="34" charset="-122"/>
                <a:cs typeface="Cambria" pitchFamily="34" charset="-120"/>
              </a:rPr>
              <a:t>05</a:t>
            </a:r>
            <a:endParaRPr lang="en-US" sz="3000" dirty="0">
              <a:solidFill>
                <a:srgbClr val="131313"/>
              </a:solidFill>
            </a:endParaRPr>
          </a:p>
        </p:txBody>
      </p:sp>
      <p:sp>
        <p:nvSpPr>
          <p:cNvPr id="22" name="Text 20"/>
          <p:cNvSpPr/>
          <p:nvPr/>
        </p:nvSpPr>
        <p:spPr>
          <a:xfrm>
            <a:off x="7324344" y="1993392"/>
            <a:ext cx="1389888" cy="502920"/>
          </a:xfrm>
          <a:prstGeom prst="rect">
            <a:avLst/>
          </a:prstGeom>
          <a:noFill/>
          <a:ln/>
        </p:spPr>
        <p:txBody>
          <a:bodyPr wrap="square" lIns="0" tIns="0" rIns="0" bIns="0" rtlCol="0" anchor="ctr"/>
          <a:lstStyle/>
          <a:p>
            <a:pPr marL="0" indent="0">
              <a:buNone/>
            </a:pPr>
            <a:r>
              <a:rPr lang="en-US" sz="1400" b="1" dirty="0">
                <a:solidFill>
                  <a:srgbClr val="131313"/>
                </a:solidFill>
                <a:latin typeface="Cambria" pitchFamily="34" charset="0"/>
                <a:ea typeface="Cambria" pitchFamily="34" charset="-122"/>
                <a:cs typeface="Cambria" pitchFamily="34" charset="-120"/>
              </a:rPr>
              <a:t>Results &amp; Discussion</a:t>
            </a:r>
            <a:endParaRPr lang="en-US" sz="1400" dirty="0">
              <a:solidFill>
                <a:srgbClr val="131313"/>
              </a:solidFill>
            </a:endParaRPr>
          </a:p>
        </p:txBody>
      </p:sp>
      <p:sp>
        <p:nvSpPr>
          <p:cNvPr id="23" name="Text 21"/>
          <p:cNvSpPr/>
          <p:nvPr/>
        </p:nvSpPr>
        <p:spPr>
          <a:xfrm>
            <a:off x="7287768" y="2560320"/>
            <a:ext cx="1426464" cy="1645920"/>
          </a:xfrm>
          <a:prstGeom prst="rect">
            <a:avLst/>
          </a:prstGeom>
          <a:noFill/>
          <a:ln/>
        </p:spPr>
        <p:txBody>
          <a:bodyPr wrap="square" lIns="0" tIns="0" rIns="0" bIns="0" rtlCol="0" anchor="ctr"/>
          <a:lstStyle/>
          <a:p>
            <a:pPr marL="0" indent="0">
              <a:buNone/>
            </a:pPr>
            <a:r>
              <a:rPr lang="en-US" sz="1100" dirty="0">
                <a:solidFill>
                  <a:srgbClr val="868686"/>
                </a:solidFill>
                <a:latin typeface="Calibri" pitchFamily="34" charset="0"/>
                <a:ea typeface="Calibri" pitchFamily="34" charset="-122"/>
                <a:cs typeface="Calibri" pitchFamily="34" charset="-120"/>
              </a:rPr>
              <a:t>What works, what it costs, and what it means</a:t>
            </a:r>
            <a:endParaRPr lang="en-US" sz="1100" dirty="0">
              <a:solidFill>
                <a:srgbClr val="86868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9F9"/>
        </a:solidFill>
        <a:effectLst/>
      </p:bgPr>
    </p:bg>
    <p:spTree>
      <p:nvGrpSpPr>
        <p:cNvPr id="1" name=""/>
        <p:cNvGrpSpPr/>
        <p:nvPr/>
      </p:nvGrpSpPr>
      <p:grpSpPr>
        <a:xfrm>
          <a:off x="0" y="0"/>
          <a:ext cx="0" cy="0"/>
          <a:chOff x="0" y="0"/>
          <a:chExt cx="0" cy="0"/>
        </a:xfrm>
      </p:grpSpPr>
      <p:sp>
        <p:nvSpPr>
          <p:cNvPr id="2" name="Text 0"/>
          <p:cNvSpPr/>
          <p:nvPr/>
        </p:nvSpPr>
        <p:spPr>
          <a:xfrm>
            <a:off x="457200" y="0"/>
            <a:ext cx="8229600" cy="963768"/>
          </a:xfrm>
          <a:prstGeom prst="rect">
            <a:avLst/>
          </a:prstGeom>
          <a:noFill/>
          <a:ln/>
        </p:spPr>
        <p:txBody>
          <a:bodyPr wrap="square" lIns="0" tIns="0" rIns="0" bIns="0" rtlCol="0" anchor="ctr"/>
          <a:lstStyle/>
          <a:p>
            <a:pPr marL="0" indent="0">
              <a:buNone/>
            </a:pPr>
            <a:r>
              <a:rPr lang="en-US" sz="3000" b="1" dirty="0">
                <a:solidFill>
                  <a:srgbClr val="131313"/>
                </a:solidFill>
                <a:latin typeface="Cambria" pitchFamily="34" charset="0"/>
                <a:ea typeface="Cambria" pitchFamily="34" charset="-122"/>
                <a:cs typeface="Cambria" pitchFamily="34" charset="-120"/>
              </a:rPr>
              <a:t>01  Motivation</a:t>
            </a:r>
            <a:endParaRPr lang="en-US" sz="3000" dirty="0">
              <a:solidFill>
                <a:srgbClr val="131313"/>
              </a:solidFill>
            </a:endParaRPr>
          </a:p>
        </p:txBody>
      </p:sp>
      <p:sp>
        <p:nvSpPr>
          <p:cNvPr id="3" name="Text 1"/>
          <p:cNvSpPr/>
          <p:nvPr/>
        </p:nvSpPr>
        <p:spPr>
          <a:xfrm>
            <a:off x="457200" y="856788"/>
            <a:ext cx="8229600" cy="354792"/>
          </a:xfrm>
          <a:prstGeom prst="rect">
            <a:avLst/>
          </a:prstGeom>
          <a:noFill/>
          <a:ln/>
        </p:spPr>
        <p:txBody>
          <a:bodyPr wrap="square" lIns="0" tIns="0" rIns="0" bIns="0" rtlCol="0" anchor="ctr"/>
          <a:lstStyle/>
          <a:p>
            <a:pPr marL="0" indent="0">
              <a:buNone/>
            </a:pPr>
            <a:r>
              <a:rPr lang="en-US" sz="1400" i="1" dirty="0">
                <a:solidFill>
                  <a:srgbClr val="131313"/>
                </a:solidFill>
                <a:latin typeface="Calibri" pitchFamily="34" charset="0"/>
                <a:ea typeface="Calibri" pitchFamily="34" charset="-122"/>
                <a:cs typeface="Calibri" pitchFamily="34" charset="-120"/>
              </a:rPr>
              <a:t>The hidden cost of automating historical decisions</a:t>
            </a:r>
            <a:endParaRPr lang="en-US" sz="1400" dirty="0">
              <a:solidFill>
                <a:srgbClr val="131313"/>
              </a:solidFill>
            </a:endParaRPr>
          </a:p>
        </p:txBody>
      </p:sp>
      <p:sp>
        <p:nvSpPr>
          <p:cNvPr id="4" name="Shape 2"/>
          <p:cNvSpPr/>
          <p:nvPr/>
        </p:nvSpPr>
        <p:spPr>
          <a:xfrm>
            <a:off x="457200" y="1375710"/>
            <a:ext cx="2362200" cy="2948640"/>
          </a:xfrm>
          <a:prstGeom prst="roundRect">
            <a:avLst>
              <a:gd name="adj" fmla="val 4000"/>
            </a:avLst>
          </a:prstGeom>
          <a:solidFill>
            <a:srgbClr val="5804FA"/>
          </a:solidFill>
          <a:ln w="12700">
            <a:noFill/>
            <a:prstDash val="solid"/>
          </a:ln>
        </p:spPr>
        <p:txBody>
          <a:bodyPr/>
          <a:lstStyle/>
          <a:p>
            <a:endParaRPr lang="en-IL" dirty="0"/>
          </a:p>
        </p:txBody>
      </p:sp>
      <p:sp>
        <p:nvSpPr>
          <p:cNvPr id="5" name="Text 3"/>
          <p:cNvSpPr/>
          <p:nvPr/>
        </p:nvSpPr>
        <p:spPr>
          <a:xfrm>
            <a:off x="609600" y="1569096"/>
            <a:ext cx="1905000" cy="502920"/>
          </a:xfrm>
          <a:prstGeom prst="rect">
            <a:avLst/>
          </a:prstGeom>
          <a:noFill/>
          <a:ln/>
        </p:spPr>
        <p:txBody>
          <a:bodyPr wrap="square" lIns="0" tIns="0" rIns="0" bIns="0" rtlCol="0" anchor="ctr"/>
          <a:lstStyle/>
          <a:p>
            <a:pPr marL="0" indent="0">
              <a:buNone/>
            </a:pPr>
            <a:r>
              <a:rPr lang="en-US" sz="1600" b="1" dirty="0">
                <a:solidFill>
                  <a:srgbClr val="F9F9F9"/>
                </a:solidFill>
                <a:latin typeface="Cambria" pitchFamily="34" charset="0"/>
                <a:ea typeface="Cambria" pitchFamily="34" charset="-122"/>
                <a:cs typeface="Cambria" pitchFamily="34" charset="-120"/>
              </a:rPr>
              <a:t>Speed &amp; Scale</a:t>
            </a:r>
            <a:endParaRPr lang="en-US" sz="1600" dirty="0">
              <a:solidFill>
                <a:srgbClr val="F9F9F9"/>
              </a:solidFill>
            </a:endParaRPr>
          </a:p>
        </p:txBody>
      </p:sp>
      <p:sp>
        <p:nvSpPr>
          <p:cNvPr id="6" name="Text 4"/>
          <p:cNvSpPr/>
          <p:nvPr/>
        </p:nvSpPr>
        <p:spPr>
          <a:xfrm>
            <a:off x="609600" y="2322345"/>
            <a:ext cx="2057400" cy="1360170"/>
          </a:xfrm>
          <a:prstGeom prst="rect">
            <a:avLst/>
          </a:prstGeom>
          <a:noFill/>
          <a:ln/>
        </p:spPr>
        <p:txBody>
          <a:bodyPr wrap="square" lIns="0" tIns="0" rIns="0" bIns="0" rtlCol="0" anchor="ctr"/>
          <a:lstStyle/>
          <a:p>
            <a:pPr marL="0" indent="0">
              <a:lnSpc>
                <a:spcPct val="150000"/>
              </a:lnSpc>
              <a:buNone/>
            </a:pPr>
            <a:r>
              <a:rPr lang="en-US" sz="1150" dirty="0">
                <a:solidFill>
                  <a:srgbClr val="F9F9F9"/>
                </a:solidFill>
                <a:latin typeface="Calibri" pitchFamily="34" charset="0"/>
                <a:ea typeface="Calibri" pitchFamily="34" charset="-122"/>
                <a:cs typeface="Calibri" pitchFamily="34" charset="-120"/>
              </a:rPr>
              <a:t>Automated models evaluate thousands of applications consistently - a capability no human underwriting team can match.</a:t>
            </a:r>
            <a:endParaRPr lang="en-US" sz="1150" dirty="0">
              <a:solidFill>
                <a:srgbClr val="F9F9F9"/>
              </a:solidFill>
            </a:endParaRPr>
          </a:p>
        </p:txBody>
      </p:sp>
      <p:sp>
        <p:nvSpPr>
          <p:cNvPr id="7" name="Shape 5"/>
          <p:cNvSpPr/>
          <p:nvPr/>
        </p:nvSpPr>
        <p:spPr>
          <a:xfrm>
            <a:off x="3048000" y="1375710"/>
            <a:ext cx="2514600" cy="2948640"/>
          </a:xfrm>
          <a:prstGeom prst="roundRect">
            <a:avLst>
              <a:gd name="adj" fmla="val 4000"/>
            </a:avLst>
          </a:prstGeom>
          <a:solidFill>
            <a:srgbClr val="5804FA"/>
          </a:solidFill>
          <a:ln w="12700">
            <a:noFill/>
            <a:prstDash val="solid"/>
          </a:ln>
        </p:spPr>
      </p:sp>
      <p:sp>
        <p:nvSpPr>
          <p:cNvPr id="8" name="Text 6"/>
          <p:cNvSpPr/>
          <p:nvPr/>
        </p:nvSpPr>
        <p:spPr>
          <a:xfrm>
            <a:off x="3200400" y="1569096"/>
            <a:ext cx="2057400" cy="502920"/>
          </a:xfrm>
          <a:prstGeom prst="rect">
            <a:avLst/>
          </a:prstGeom>
          <a:noFill/>
          <a:ln/>
        </p:spPr>
        <p:txBody>
          <a:bodyPr wrap="square" lIns="0" tIns="0" rIns="0" bIns="0" rtlCol="0" anchor="ctr"/>
          <a:lstStyle/>
          <a:p>
            <a:pPr marL="0" indent="0">
              <a:buNone/>
            </a:pPr>
            <a:r>
              <a:rPr lang="en-US" sz="1600" b="1" dirty="0">
                <a:solidFill>
                  <a:srgbClr val="F9F9F9"/>
                </a:solidFill>
                <a:latin typeface="Cambria" pitchFamily="34" charset="0"/>
                <a:ea typeface="Cambria" pitchFamily="34" charset="-122"/>
                <a:cs typeface="Cambria" pitchFamily="34" charset="-120"/>
              </a:rPr>
              <a:t>Hidden Bias</a:t>
            </a:r>
            <a:endParaRPr lang="en-US" sz="1600" dirty="0">
              <a:solidFill>
                <a:srgbClr val="F9F9F9"/>
              </a:solidFill>
            </a:endParaRPr>
          </a:p>
        </p:txBody>
      </p:sp>
      <p:sp>
        <p:nvSpPr>
          <p:cNvPr id="9" name="Text 7"/>
          <p:cNvSpPr/>
          <p:nvPr/>
        </p:nvSpPr>
        <p:spPr>
          <a:xfrm>
            <a:off x="3195536" y="2322345"/>
            <a:ext cx="2209800" cy="1360170"/>
          </a:xfrm>
          <a:prstGeom prst="rect">
            <a:avLst/>
          </a:prstGeom>
          <a:noFill/>
          <a:ln/>
        </p:spPr>
        <p:txBody>
          <a:bodyPr wrap="square" lIns="0" tIns="0" rIns="0" bIns="0" rtlCol="0" anchor="ctr"/>
          <a:lstStyle/>
          <a:p>
            <a:pPr marL="0" indent="0">
              <a:lnSpc>
                <a:spcPct val="150000"/>
              </a:lnSpc>
              <a:buNone/>
            </a:pPr>
            <a:r>
              <a:rPr lang="en-US" sz="1150" dirty="0">
                <a:solidFill>
                  <a:srgbClr val="F9F9F9"/>
                </a:solidFill>
                <a:latin typeface="Calibri" pitchFamily="34" charset="0"/>
                <a:ea typeface="Calibri" pitchFamily="34" charset="-122"/>
                <a:cs typeface="Calibri" pitchFamily="34" charset="-120"/>
              </a:rPr>
              <a:t>When trained on historical bank decisions, models learn not only risk signals but also the demographic biases embedded in human judgement.</a:t>
            </a:r>
            <a:endParaRPr lang="en-US" sz="1150" dirty="0">
              <a:solidFill>
                <a:srgbClr val="F9F9F9"/>
              </a:solidFill>
            </a:endParaRPr>
          </a:p>
        </p:txBody>
      </p:sp>
      <p:sp>
        <p:nvSpPr>
          <p:cNvPr id="10" name="Shape 8"/>
          <p:cNvSpPr/>
          <p:nvPr/>
        </p:nvSpPr>
        <p:spPr>
          <a:xfrm>
            <a:off x="5791200" y="1375710"/>
            <a:ext cx="2362200" cy="2948640"/>
          </a:xfrm>
          <a:prstGeom prst="roundRect">
            <a:avLst>
              <a:gd name="adj" fmla="val 4000"/>
            </a:avLst>
          </a:prstGeom>
          <a:solidFill>
            <a:srgbClr val="5804FA"/>
          </a:solidFill>
          <a:ln w="12700">
            <a:noFill/>
            <a:prstDash val="solid"/>
          </a:ln>
        </p:spPr>
      </p:sp>
      <p:sp>
        <p:nvSpPr>
          <p:cNvPr id="11" name="Text 9"/>
          <p:cNvSpPr/>
          <p:nvPr/>
        </p:nvSpPr>
        <p:spPr>
          <a:xfrm>
            <a:off x="5943600" y="1569096"/>
            <a:ext cx="2057400" cy="502920"/>
          </a:xfrm>
          <a:prstGeom prst="rect">
            <a:avLst/>
          </a:prstGeom>
          <a:noFill/>
          <a:ln/>
        </p:spPr>
        <p:txBody>
          <a:bodyPr wrap="square" lIns="0" tIns="0" rIns="0" bIns="0" rtlCol="0" anchor="ctr"/>
          <a:lstStyle/>
          <a:p>
            <a:pPr marL="0" indent="0">
              <a:buNone/>
            </a:pPr>
            <a:r>
              <a:rPr lang="en-US" sz="1600" b="1" dirty="0">
                <a:solidFill>
                  <a:srgbClr val="F9F9F9"/>
                </a:solidFill>
                <a:latin typeface="Cambria" pitchFamily="34" charset="0"/>
                <a:ea typeface="Cambria" pitchFamily="34" charset="-122"/>
                <a:cs typeface="Cambria" pitchFamily="34" charset="-120"/>
              </a:rPr>
              <a:t>Amplification</a:t>
            </a:r>
            <a:endParaRPr lang="en-US" sz="1600" dirty="0">
              <a:solidFill>
                <a:srgbClr val="F9F9F9"/>
              </a:solidFill>
            </a:endParaRPr>
          </a:p>
        </p:txBody>
      </p:sp>
      <p:sp>
        <p:nvSpPr>
          <p:cNvPr id="12" name="Text 10"/>
          <p:cNvSpPr/>
          <p:nvPr/>
        </p:nvSpPr>
        <p:spPr>
          <a:xfrm>
            <a:off x="5943600" y="2322345"/>
            <a:ext cx="2057400" cy="1360170"/>
          </a:xfrm>
          <a:prstGeom prst="rect">
            <a:avLst/>
          </a:prstGeom>
          <a:noFill/>
          <a:ln/>
        </p:spPr>
        <p:txBody>
          <a:bodyPr wrap="square" lIns="0" tIns="0" rIns="0" bIns="0" rtlCol="0" anchor="ctr"/>
          <a:lstStyle/>
          <a:p>
            <a:pPr marL="0" indent="0">
              <a:lnSpc>
                <a:spcPct val="150000"/>
              </a:lnSpc>
              <a:buNone/>
            </a:pPr>
            <a:r>
              <a:rPr lang="en-US" sz="1150" dirty="0">
                <a:solidFill>
                  <a:srgbClr val="F9F9F9"/>
                </a:solidFill>
                <a:latin typeface="Calibri" pitchFamily="34" charset="0"/>
                <a:ea typeface="Calibri" pitchFamily="34" charset="-122"/>
                <a:cs typeface="Calibri" pitchFamily="34" charset="-120"/>
              </a:rPr>
              <a:t>Unlike individual humans, models apply learned patterns perfectly consistently - amplifying small biases across every future decision.</a:t>
            </a:r>
            <a:endParaRPr lang="en-US" sz="1150" dirty="0">
              <a:solidFill>
                <a:srgbClr val="F9F9F9"/>
              </a:solidFill>
            </a:endParaRPr>
          </a:p>
        </p:txBody>
      </p:sp>
      <p:sp>
        <p:nvSpPr>
          <p:cNvPr id="13" name="Text 11"/>
          <p:cNvSpPr/>
          <p:nvPr/>
        </p:nvSpPr>
        <p:spPr>
          <a:xfrm>
            <a:off x="457200" y="4629150"/>
            <a:ext cx="8229600" cy="454914"/>
          </a:xfrm>
          <a:prstGeom prst="rect">
            <a:avLst/>
          </a:prstGeom>
          <a:noFill/>
          <a:ln/>
        </p:spPr>
        <p:txBody>
          <a:bodyPr wrap="square" lIns="0" tIns="0" rIns="0" bIns="0" rtlCol="0" anchor="ctr"/>
          <a:lstStyle/>
          <a:p>
            <a:pPr marL="0" indent="0">
              <a:buNone/>
            </a:pPr>
            <a:r>
              <a:rPr lang="en-US" sz="1100" i="1" dirty="0">
                <a:solidFill>
                  <a:srgbClr val="131313"/>
                </a:solidFill>
                <a:latin typeface="Calibri" pitchFamily="34" charset="0"/>
                <a:ea typeface="Calibri" pitchFamily="34" charset="-122"/>
                <a:cs typeface="Calibri" pitchFamily="34" charset="-120"/>
              </a:rPr>
              <a:t>Research question: Does a classifier trained on historical bank decisions inherit and amplify demographic bias, and can lifecycle interventions reduce it?</a:t>
            </a:r>
            <a:endParaRPr lang="en-US" sz="1100" dirty="0">
              <a:solidFill>
                <a:srgbClr val="13131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1313"/>
          </a:solidFill>
          <a:ln w="12700">
            <a:solidFill>
              <a:srgbClr val="131313"/>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marL="0" indent="0">
              <a:buNone/>
            </a:pPr>
            <a:r>
              <a:rPr lang="en-US" sz="3000" b="1" dirty="0">
                <a:solidFill>
                  <a:srgbClr val="F9F9F9"/>
                </a:solidFill>
                <a:latin typeface="Cambria" pitchFamily="34" charset="0"/>
                <a:ea typeface="Cambria" pitchFamily="34" charset="-122"/>
                <a:cs typeface="Cambria" pitchFamily="34" charset="-120"/>
              </a:rPr>
              <a:t>02  Data &amp; Demographic Disparity</a:t>
            </a:r>
            <a:endParaRPr lang="en-US" sz="3000" dirty="0"/>
          </a:p>
        </p:txBody>
      </p:sp>
      <p:sp>
        <p:nvSpPr>
          <p:cNvPr id="4" name="Text 2"/>
          <p:cNvSpPr/>
          <p:nvPr/>
        </p:nvSpPr>
        <p:spPr>
          <a:xfrm>
            <a:off x="457199" y="960119"/>
            <a:ext cx="4114799" cy="354088"/>
          </a:xfrm>
          <a:prstGeom prst="rect">
            <a:avLst/>
          </a:prstGeom>
          <a:noFill/>
          <a:ln/>
        </p:spPr>
        <p:txBody>
          <a:bodyPr wrap="square" lIns="0" tIns="0" rIns="0" bIns="0" rtlCol="0" anchor="ctr"/>
          <a:lstStyle/>
          <a:p>
            <a:pPr marL="0" indent="0">
              <a:buNone/>
            </a:pPr>
            <a:r>
              <a:rPr lang="en-US" sz="1800" b="1" dirty="0">
                <a:solidFill>
                  <a:srgbClr val="131313"/>
                </a:solidFill>
                <a:latin typeface="Cambria" pitchFamily="34" charset="0"/>
                <a:ea typeface="Cambria" pitchFamily="34" charset="-122"/>
                <a:cs typeface="Cambria" pitchFamily="34" charset="-120"/>
              </a:rPr>
              <a:t>The German Credit Dataset</a:t>
            </a:r>
            <a:endParaRPr lang="en-US" sz="1800" dirty="0"/>
          </a:p>
        </p:txBody>
      </p:sp>
      <p:sp>
        <p:nvSpPr>
          <p:cNvPr id="5" name="Text 3"/>
          <p:cNvSpPr/>
          <p:nvPr/>
        </p:nvSpPr>
        <p:spPr>
          <a:xfrm>
            <a:off x="457199" y="1490472"/>
            <a:ext cx="3733801" cy="1767078"/>
          </a:xfrm>
          <a:prstGeom prst="rect">
            <a:avLst/>
          </a:prstGeom>
          <a:noFill/>
          <a:ln/>
        </p:spPr>
        <p:txBody>
          <a:bodyPr wrap="square" rtlCol="0" anchor="ctr"/>
          <a:lstStyle/>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1,000 applicant records from a German bank</a:t>
            </a:r>
            <a:endParaRPr lang="en-US" sz="1250" dirty="0"/>
          </a:p>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20 attributes: financial history, loan details, demographics</a:t>
            </a:r>
            <a:endParaRPr lang="en-US" sz="1250" dirty="0"/>
          </a:p>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Target variable: bank's own Good / Bad credit rating</a:t>
            </a:r>
            <a:endParaRPr lang="en-US" sz="1250" dirty="0"/>
          </a:p>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Binary sensitive attribute: is_young (Age ≤ 25)</a:t>
            </a:r>
            <a:endParaRPr lang="en-US" sz="1250" dirty="0"/>
          </a:p>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Split: 800 training / 200 test (stratified)</a:t>
            </a:r>
            <a:endParaRPr lang="en-US" sz="1250" dirty="0"/>
          </a:p>
          <a:p>
            <a:pPr marL="0" indent="0">
              <a:buNone/>
            </a:pPr>
            <a:endParaRPr lang="en-US" sz="1250" dirty="0"/>
          </a:p>
        </p:txBody>
      </p:sp>
      <p:sp>
        <p:nvSpPr>
          <p:cNvPr id="6" name="Text 4"/>
          <p:cNvSpPr/>
          <p:nvPr/>
        </p:nvSpPr>
        <p:spPr>
          <a:xfrm>
            <a:off x="4572000" y="960118"/>
            <a:ext cx="4114800" cy="438914"/>
          </a:xfrm>
          <a:prstGeom prst="rect">
            <a:avLst/>
          </a:prstGeom>
          <a:noFill/>
          <a:ln/>
        </p:spPr>
        <p:txBody>
          <a:bodyPr wrap="square" lIns="0" tIns="0" rIns="0" bIns="0" rtlCol="0" anchor="ctr"/>
          <a:lstStyle/>
          <a:p>
            <a:pPr marL="0" indent="0">
              <a:buNone/>
            </a:pPr>
            <a:r>
              <a:rPr lang="en-US" sz="1600" b="1" dirty="0">
                <a:solidFill>
                  <a:srgbClr val="131313"/>
                </a:solidFill>
                <a:latin typeface="Cambria" pitchFamily="34" charset="0"/>
                <a:ea typeface="Cambria" pitchFamily="34" charset="-122"/>
                <a:cs typeface="Cambria" pitchFamily="34" charset="-120"/>
              </a:rPr>
              <a:t>Approval Rate Gap by Demographic Attribute</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3054815665"/>
              </p:ext>
            </p:extLst>
          </p:nvPr>
        </p:nvGraphicFramePr>
        <p:xfrm>
          <a:off x="4572000" y="1490472"/>
          <a:ext cx="4114800" cy="1536192"/>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lgn="ctr">
                        <a:buNone/>
                      </a:pPr>
                      <a:r>
                        <a:rPr lang="en-US" sz="1200" b="1" dirty="0">
                          <a:solidFill>
                            <a:srgbClr val="F9F9F9"/>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tc>
                  <a:txBody>
                    <a:bodyPr/>
                    <a:lstStyle/>
                    <a:p>
                      <a:pPr marL="0" indent="0" algn="ctr">
                        <a:buNone/>
                      </a:pPr>
                      <a:r>
                        <a:rPr lang="en-US" sz="1200" b="1" dirty="0">
                          <a:solidFill>
                            <a:srgbClr val="F9F9F9"/>
                          </a:solidFill>
                          <a:latin typeface="Calibri" pitchFamily="34" charset="0"/>
                          <a:ea typeface="Calibri" pitchFamily="34" charset="-122"/>
                          <a:cs typeface="Calibri" pitchFamily="34" charset="-120"/>
                        </a:rPr>
                        <a:t>Groups Compared</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tc>
                  <a:txBody>
                    <a:bodyPr/>
                    <a:lstStyle/>
                    <a:p>
                      <a:pPr marL="0" indent="0" algn="ctr">
                        <a:buNone/>
                      </a:pPr>
                      <a:r>
                        <a:rPr lang="en-US" sz="1200" b="1" dirty="0">
                          <a:solidFill>
                            <a:srgbClr val="F9F9F9"/>
                          </a:solidFill>
                          <a:latin typeface="Calibri" pitchFamily="34" charset="0"/>
                          <a:ea typeface="Calibri" pitchFamily="34" charset="-122"/>
                          <a:cs typeface="Calibri" pitchFamily="34" charset="-120"/>
                        </a:rPr>
                        <a:t>Gap (pp)</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extLst>
                  <a:ext uri="{0D108BD9-81ED-4DB2-BD59-A6C34878D82A}">
                    <a16:rowId xmlns:a16="http://schemas.microsoft.com/office/drawing/2014/main" val="10000"/>
                  </a:ext>
                </a:extLst>
              </a:tr>
              <a:tr h="38404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Sex</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Male vs Female</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Marital status</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Single vs Div/Sep</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b="1" dirty="0">
                          <a:solidFill>
                            <a:srgbClr val="EF4323"/>
                          </a:solidFill>
                          <a:latin typeface="Calibri" pitchFamily="34" charset="0"/>
                          <a:ea typeface="Calibri" pitchFamily="34" charset="-122"/>
                          <a:cs typeface="Calibri" pitchFamily="34" charset="-120"/>
                        </a:rPr>
                        <a:t>Age</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200" b="1" dirty="0">
                          <a:solidFill>
                            <a:srgbClr val="EF4323"/>
                          </a:solidFill>
                          <a:latin typeface="Calibri" pitchFamily="34" charset="0"/>
                          <a:ea typeface="Calibri" pitchFamily="34" charset="-122"/>
                          <a:cs typeface="Calibri" pitchFamily="34" charset="-120"/>
                        </a:rPr>
                        <a:t>Age &gt; 25 vs ≤ 25</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200" b="1" dirty="0">
                          <a:solidFill>
                            <a:srgbClr val="EF4323"/>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4571998" y="3078399"/>
            <a:ext cx="4114799" cy="545154"/>
          </a:xfrm>
          <a:prstGeom prst="rect">
            <a:avLst/>
          </a:prstGeom>
          <a:noFill/>
          <a:ln/>
        </p:spPr>
        <p:txBody>
          <a:bodyPr wrap="square" lIns="0" tIns="0" rIns="0" bIns="0" rtlCol="0" anchor="ctr"/>
          <a:lstStyle/>
          <a:p>
            <a:pPr marL="0" indent="0">
              <a:buNone/>
            </a:pPr>
            <a:r>
              <a:rPr lang="en-US" sz="1150" i="1" dirty="0">
                <a:solidFill>
                  <a:srgbClr val="868686"/>
                </a:solidFill>
                <a:latin typeface="Calibri" pitchFamily="34" charset="0"/>
                <a:ea typeface="Calibri" pitchFamily="34" charset="-122"/>
                <a:cs typeface="Calibri" pitchFamily="34" charset="-120"/>
              </a:rPr>
              <a:t>Age shows the largest gap </a:t>
            </a:r>
            <a:r>
              <a:rPr lang="ru-RU" sz="1150" i="1" dirty="0">
                <a:solidFill>
                  <a:srgbClr val="868686"/>
                </a:solidFill>
                <a:latin typeface="Calibri" pitchFamily="34" charset="0"/>
                <a:ea typeface="Calibri" pitchFamily="34" charset="-122"/>
                <a:cs typeface="Calibri" pitchFamily="34" charset="-120"/>
              </a:rPr>
              <a:t>-</a:t>
            </a:r>
            <a:r>
              <a:rPr lang="en-US" sz="1150" i="1" dirty="0">
                <a:solidFill>
                  <a:srgbClr val="868686"/>
                </a:solidFill>
                <a:latin typeface="Calibri" pitchFamily="34" charset="0"/>
                <a:ea typeface="Calibri" pitchFamily="34" charset="-122"/>
                <a:cs typeface="Calibri" pitchFamily="34" charset="-120"/>
              </a:rPr>
              <a:t> 14.9 pp </a:t>
            </a:r>
            <a:r>
              <a:rPr lang="ru-RU" sz="1150" i="1" dirty="0">
                <a:solidFill>
                  <a:srgbClr val="868686"/>
                </a:solidFill>
                <a:latin typeface="Calibri" pitchFamily="34" charset="0"/>
                <a:ea typeface="Calibri" pitchFamily="34" charset="-122"/>
                <a:cs typeface="Calibri" pitchFamily="34" charset="-120"/>
              </a:rPr>
              <a:t>-</a:t>
            </a:r>
            <a:r>
              <a:rPr lang="en-US" sz="1150" i="1" dirty="0">
                <a:solidFill>
                  <a:srgbClr val="868686"/>
                </a:solidFill>
                <a:latin typeface="Calibri" pitchFamily="34" charset="0"/>
                <a:ea typeface="Calibri" pitchFamily="34" charset="-122"/>
                <a:cs typeface="Calibri" pitchFamily="34" charset="-120"/>
              </a:rPr>
              <a:t> nearly twice the sex gap (7.5 pp). </a:t>
            </a:r>
            <a:endParaRPr lang="ru-RU" sz="1150" i="1" dirty="0">
              <a:solidFill>
                <a:srgbClr val="868686"/>
              </a:solidFill>
              <a:latin typeface="Calibri" pitchFamily="34" charset="0"/>
              <a:ea typeface="Calibri" pitchFamily="34" charset="-122"/>
              <a:cs typeface="Calibri" pitchFamily="34" charset="-120"/>
            </a:endParaRPr>
          </a:p>
          <a:p>
            <a:pPr marL="0" indent="0">
              <a:buNone/>
            </a:pPr>
            <a:r>
              <a:rPr lang="en-US" sz="1150" i="1" dirty="0">
                <a:solidFill>
                  <a:srgbClr val="868686"/>
                </a:solidFill>
                <a:latin typeface="Calibri" pitchFamily="34" charset="0"/>
                <a:ea typeface="Calibri" pitchFamily="34" charset="-122"/>
                <a:cs typeface="Calibri" pitchFamily="34" charset="-120"/>
              </a:rPr>
              <a:t>All subsequent fairness analysis focuses on the is_young attribute.</a:t>
            </a:r>
            <a:endParaRPr lang="en-US" sz="1150" dirty="0">
              <a:solidFill>
                <a:srgbClr val="868686"/>
              </a:solidFill>
            </a:endParaRPr>
          </a:p>
        </p:txBody>
      </p:sp>
      <p:sp>
        <p:nvSpPr>
          <p:cNvPr id="9" name="Shape 6"/>
          <p:cNvSpPr/>
          <p:nvPr/>
        </p:nvSpPr>
        <p:spPr>
          <a:xfrm>
            <a:off x="457199" y="3977640"/>
            <a:ext cx="8229601" cy="822960"/>
          </a:xfrm>
          <a:prstGeom prst="roundRect">
            <a:avLst>
              <a:gd name="adj" fmla="val 8889"/>
            </a:avLst>
          </a:prstGeom>
          <a:solidFill>
            <a:srgbClr val="131313">
              <a:alpha val="95000"/>
            </a:srgbClr>
          </a:solidFill>
          <a:ln w="12700">
            <a:solidFill>
              <a:srgbClr val="131313">
                <a:alpha val="50000"/>
              </a:srgbClr>
            </a:solidFill>
            <a:prstDash val="solid"/>
          </a:ln>
        </p:spPr>
      </p:sp>
      <p:sp>
        <p:nvSpPr>
          <p:cNvPr id="10" name="Text 7"/>
          <p:cNvSpPr/>
          <p:nvPr/>
        </p:nvSpPr>
        <p:spPr>
          <a:xfrm>
            <a:off x="685800" y="4114800"/>
            <a:ext cx="7772400" cy="548640"/>
          </a:xfrm>
          <a:prstGeom prst="rect">
            <a:avLst/>
          </a:prstGeom>
          <a:noFill/>
          <a:ln/>
        </p:spPr>
        <p:txBody>
          <a:bodyPr wrap="square" lIns="0" tIns="0" rIns="0" bIns="0" rtlCol="0" anchor="ctr"/>
          <a:lstStyle/>
          <a:p>
            <a:pPr marL="0" indent="0">
              <a:buNone/>
            </a:pPr>
            <a:r>
              <a:rPr lang="en-US" sz="1300" dirty="0">
                <a:solidFill>
                  <a:srgbClr val="F9F9F9"/>
                </a:solidFill>
                <a:latin typeface="Calibri" pitchFamily="34" charset="0"/>
                <a:ea typeface="Calibri" pitchFamily="34" charset="-122"/>
                <a:cs typeface="Calibri" pitchFamily="34" charset="-120"/>
              </a:rPr>
              <a:t>Bank baseline (test set): young applicants (Age ≤ 25) receive a Bad label at 45.5% vs 25.6% for older applicants  </a:t>
            </a:r>
            <a:r>
              <a:rPr lang="ru-RU" sz="1300" dirty="0">
                <a:solidFill>
                  <a:srgbClr val="F9F9F9"/>
                </a:solidFill>
                <a:latin typeface="Calibri" pitchFamily="34" charset="0"/>
                <a:ea typeface="Calibri" pitchFamily="34" charset="-122"/>
                <a:cs typeface="Calibri" pitchFamily="34" charset="-120"/>
              </a:rPr>
              <a:t>-</a:t>
            </a:r>
            <a:r>
              <a:rPr lang="en-US" sz="1300" dirty="0">
                <a:solidFill>
                  <a:srgbClr val="F9F9F9"/>
                </a:solidFill>
                <a:latin typeface="Calibri" pitchFamily="34" charset="0"/>
                <a:ea typeface="Calibri" pitchFamily="34" charset="-122"/>
                <a:cs typeface="Calibri" pitchFamily="34" charset="-120"/>
              </a:rPr>
              <a:t>&gt;  DP gap = 0.198</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1313"/>
          </a:solidFill>
          <a:ln w="12700">
            <a:solidFill>
              <a:srgbClr val="131313"/>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marL="0" indent="0">
              <a:buNone/>
            </a:pPr>
            <a:r>
              <a:rPr lang="en-US" sz="3000" b="1" dirty="0">
                <a:solidFill>
                  <a:srgbClr val="F9F9F9"/>
                </a:solidFill>
                <a:latin typeface="Cambria" pitchFamily="34" charset="0"/>
                <a:ea typeface="Cambria" pitchFamily="34" charset="-122"/>
                <a:cs typeface="Cambria" pitchFamily="34" charset="-120"/>
              </a:rPr>
              <a:t>03  Baseline Model - Bias Amplification</a:t>
            </a:r>
            <a:endParaRPr lang="en-US" sz="3000" dirty="0"/>
          </a:p>
        </p:txBody>
      </p:sp>
      <p:sp>
        <p:nvSpPr>
          <p:cNvPr id="4" name="Text 2"/>
          <p:cNvSpPr/>
          <p:nvPr/>
        </p:nvSpPr>
        <p:spPr>
          <a:xfrm>
            <a:off x="457199" y="973220"/>
            <a:ext cx="4114799" cy="365760"/>
          </a:xfrm>
          <a:prstGeom prst="rect">
            <a:avLst/>
          </a:prstGeom>
          <a:noFill/>
          <a:ln/>
        </p:spPr>
        <p:txBody>
          <a:bodyPr wrap="square" lIns="0" tIns="0" rIns="0" bIns="0" rtlCol="0" anchor="ctr"/>
          <a:lstStyle/>
          <a:p>
            <a:pPr marL="0" indent="0">
              <a:buNone/>
            </a:pPr>
            <a:r>
              <a:rPr lang="en-US" sz="1700" b="1" dirty="0">
                <a:solidFill>
                  <a:srgbClr val="131313"/>
                </a:solidFill>
                <a:latin typeface="Cambria" pitchFamily="34" charset="0"/>
                <a:ea typeface="Cambria" pitchFamily="34" charset="-122"/>
                <a:cs typeface="Cambria" pitchFamily="34" charset="-120"/>
              </a:rPr>
              <a:t>Model Configuration</a:t>
            </a:r>
            <a:endParaRPr lang="en-US" sz="1700" dirty="0"/>
          </a:p>
        </p:txBody>
      </p:sp>
      <p:sp>
        <p:nvSpPr>
          <p:cNvPr id="5" name="Text 3"/>
          <p:cNvSpPr/>
          <p:nvPr/>
        </p:nvSpPr>
        <p:spPr>
          <a:xfrm>
            <a:off x="365760" y="1474875"/>
            <a:ext cx="3840480" cy="1828800"/>
          </a:xfrm>
          <a:prstGeom prst="rect">
            <a:avLst/>
          </a:prstGeom>
          <a:noFill/>
          <a:ln/>
        </p:spPr>
        <p:txBody>
          <a:bodyPr wrap="square" rtlCol="0" anchor="ctr"/>
          <a:lstStyle/>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Random Forest — 250 trees, max depth 10</a:t>
            </a:r>
            <a:endParaRPr lang="en-US" sz="1250" dirty="0"/>
          </a:p>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Entropy criterion, balanced_subsample class weights</a:t>
            </a:r>
            <a:endParaRPr lang="en-US" sz="1250" dirty="0"/>
          </a:p>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Classification threshold: 0.40</a:t>
            </a:r>
            <a:endParaRPr lang="en-US" sz="1250" dirty="0"/>
          </a:p>
          <a:p>
            <a:pPr marL="342900" indent="-342900">
              <a:buSzPct val="100000"/>
              <a:buChar char="•"/>
            </a:pPr>
            <a:r>
              <a:rPr lang="en-US" sz="1250" dirty="0">
                <a:solidFill>
                  <a:srgbClr val="131313"/>
                </a:solidFill>
                <a:latin typeface="Calibri" pitchFamily="34" charset="0"/>
                <a:ea typeface="Calibri" pitchFamily="34" charset="-122"/>
                <a:cs typeface="Calibri" pitchFamily="34" charset="-120"/>
              </a:rPr>
              <a:t>One-hot encoding → 64 binary feature columns</a:t>
            </a:r>
            <a:endParaRPr lang="en-US" sz="1250" dirty="0"/>
          </a:p>
          <a:p>
            <a:pPr marL="0" indent="0">
              <a:buNone/>
            </a:pPr>
            <a:endParaRPr lang="en-US" sz="1250" dirty="0"/>
          </a:p>
        </p:txBody>
      </p:sp>
      <p:sp>
        <p:nvSpPr>
          <p:cNvPr id="6" name="Text 4"/>
          <p:cNvSpPr/>
          <p:nvPr/>
        </p:nvSpPr>
        <p:spPr>
          <a:xfrm>
            <a:off x="453957" y="2996006"/>
            <a:ext cx="4114799" cy="365760"/>
          </a:xfrm>
          <a:prstGeom prst="rect">
            <a:avLst/>
          </a:prstGeom>
          <a:noFill/>
          <a:ln/>
        </p:spPr>
        <p:txBody>
          <a:bodyPr wrap="square" lIns="0" tIns="0" rIns="0" bIns="0" rtlCol="0" anchor="ctr"/>
          <a:lstStyle/>
          <a:p>
            <a:pPr marL="0" indent="0">
              <a:buNone/>
            </a:pPr>
            <a:r>
              <a:rPr lang="en-US" sz="1300" b="1" dirty="0">
                <a:solidFill>
                  <a:srgbClr val="131313"/>
                </a:solidFill>
                <a:latin typeface="Cambria" pitchFamily="34" charset="0"/>
                <a:ea typeface="Cambria" pitchFamily="34" charset="-122"/>
                <a:cs typeface="Cambria" pitchFamily="34" charset="-120"/>
              </a:rPr>
              <a:t>Feature Importance (MDI) — Top 5 Predictors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2727991289"/>
              </p:ext>
            </p:extLst>
          </p:nvPr>
        </p:nvGraphicFramePr>
        <p:xfrm>
          <a:off x="453956" y="3419856"/>
          <a:ext cx="4114798" cy="1508760"/>
        </p:xfrm>
        <a:graphic>
          <a:graphicData uri="http://schemas.openxmlformats.org/drawingml/2006/table">
            <a:tbl>
              <a:tblPr/>
              <a:tblGrid>
                <a:gridCol w="2057399">
                  <a:extLst>
                    <a:ext uri="{9D8B030D-6E8A-4147-A177-3AD203B41FA5}">
                      <a16:colId xmlns:a16="http://schemas.microsoft.com/office/drawing/2014/main" val="20000"/>
                    </a:ext>
                  </a:extLst>
                </a:gridCol>
                <a:gridCol w="2057399">
                  <a:extLst>
                    <a:ext uri="{9D8B030D-6E8A-4147-A177-3AD203B41FA5}">
                      <a16:colId xmlns:a16="http://schemas.microsoft.com/office/drawing/2014/main" val="20001"/>
                    </a:ext>
                  </a:extLst>
                </a:gridCol>
              </a:tblGrid>
              <a:tr h="173736">
                <a:tc>
                  <a:txBody>
                    <a:bodyPr/>
                    <a:lstStyle/>
                    <a:p>
                      <a:pPr marL="0" indent="0">
                        <a:buNone/>
                      </a:pPr>
                      <a:r>
                        <a:rPr lang="en-US" sz="1050" b="1" dirty="0">
                          <a:solidFill>
                            <a:srgbClr val="F9F9F9"/>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tc>
                  <a:txBody>
                    <a:bodyPr/>
                    <a:lstStyle/>
                    <a:p>
                      <a:pPr marL="0" indent="0" algn="ctr">
                        <a:buNone/>
                      </a:pPr>
                      <a:r>
                        <a:rPr lang="en-US" sz="1050" b="1" dirty="0">
                          <a:solidFill>
                            <a:srgbClr val="F9F9F9"/>
                          </a:solidFill>
                          <a:latin typeface="Calibri" pitchFamily="34" charset="0"/>
                          <a:ea typeface="Calibri" pitchFamily="34" charset="-122"/>
                          <a:cs typeface="Calibri" pitchFamily="34" charset="-120"/>
                        </a:rPr>
                        <a:t>MDI share</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extLst>
                  <a:ext uri="{0D108BD9-81ED-4DB2-BD59-A6C34878D82A}">
                    <a16:rowId xmlns:a16="http://schemas.microsoft.com/office/drawing/2014/main" val="10000"/>
                  </a:ext>
                </a:extLst>
              </a:tr>
              <a:tr h="17373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Checking Account Status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20.8%</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1"/>
                  </a:ext>
                </a:extLst>
              </a:tr>
              <a:tr h="17373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Loan Duration</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8.9%</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2"/>
                  </a:ext>
                </a:extLst>
              </a:tr>
              <a:tr h="17373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Loan Amount</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8.8%</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3"/>
                  </a:ext>
                </a:extLst>
              </a:tr>
              <a:tr h="173736">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Credit History</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50" dirty="0">
                          <a:solidFill>
                            <a:srgbClr val="000000"/>
                          </a:solidFill>
                          <a:latin typeface="Calibri" pitchFamily="34" charset="0"/>
                          <a:ea typeface="Calibri" pitchFamily="34" charset="-122"/>
                          <a:cs typeface="Calibri" pitchFamily="34" charset="-120"/>
                        </a:rPr>
                        <a:t>7.8%</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4"/>
                  </a:ext>
                </a:extLst>
              </a:tr>
              <a:tr h="173736">
                <a:tc>
                  <a:txBody>
                    <a:bodyPr/>
                    <a:lstStyle/>
                    <a:p>
                      <a:pPr marL="0" indent="0">
                        <a:buNone/>
                      </a:pPr>
                      <a:r>
                        <a:rPr lang="en-US" sz="1050" b="1" dirty="0">
                          <a:solidFill>
                            <a:srgbClr val="EF4323"/>
                          </a:solidFill>
                          <a:latin typeface="Calibri" pitchFamily="34" charset="0"/>
                          <a:ea typeface="Calibri" pitchFamily="34" charset="-122"/>
                          <a:cs typeface="Calibri" pitchFamily="34" charset="-120"/>
                        </a:rPr>
                        <a:t>Age  (demographic)</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50" b="1" dirty="0">
                          <a:solidFill>
                            <a:srgbClr val="EF4323"/>
                          </a:solidFill>
                          <a:latin typeface="Calibri" pitchFamily="34" charset="0"/>
                          <a:ea typeface="Calibri" pitchFamily="34" charset="-122"/>
                          <a:cs typeface="Calibri" pitchFamily="34" charset="-120"/>
                        </a:rPr>
                        <a:t>5.7%</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4575243" y="960120"/>
            <a:ext cx="4114800" cy="429152"/>
          </a:xfrm>
          <a:prstGeom prst="rect">
            <a:avLst/>
          </a:prstGeom>
          <a:noFill/>
          <a:ln/>
        </p:spPr>
        <p:txBody>
          <a:bodyPr wrap="square" lIns="0" tIns="0" rIns="0" bIns="0" rtlCol="0" anchor="ctr"/>
          <a:lstStyle/>
          <a:p>
            <a:pPr marL="0" indent="0">
              <a:buNone/>
            </a:pPr>
            <a:r>
              <a:rPr lang="en-US" sz="1500" b="1" dirty="0">
                <a:solidFill>
                  <a:srgbClr val="131313"/>
                </a:solidFill>
                <a:latin typeface="Cambria" pitchFamily="34" charset="0"/>
                <a:ea typeface="Cambria" pitchFamily="34" charset="-122"/>
                <a:cs typeface="Cambria" pitchFamily="34" charset="-120"/>
              </a:rPr>
              <a:t>Demographic Parity Gap — Bank vs Baseline RF</a:t>
            </a:r>
            <a:endParaRPr lang="en-US" sz="1500" dirty="0"/>
          </a:p>
        </p:txBody>
      </p:sp>
      <p:graphicFrame>
        <p:nvGraphicFramePr>
          <p:cNvPr id="9" name="Chart 0"/>
          <p:cNvGraphicFramePr/>
          <p:nvPr>
            <p:extLst>
              <p:ext uri="{D42A27DB-BD31-4B8C-83A1-F6EECF244321}">
                <p14:modId xmlns:p14="http://schemas.microsoft.com/office/powerpoint/2010/main" val="2380770019"/>
              </p:ext>
            </p:extLst>
          </p:nvPr>
        </p:nvGraphicFramePr>
        <p:xfrm>
          <a:off x="4575243" y="1474875"/>
          <a:ext cx="4114799"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5029200" y="3943350"/>
            <a:ext cx="3749040" cy="866394"/>
          </a:xfrm>
          <a:prstGeom prst="roundRect">
            <a:avLst>
              <a:gd name="adj" fmla="val 9091"/>
            </a:avLst>
          </a:prstGeom>
          <a:solidFill>
            <a:srgbClr val="FEF3F2"/>
          </a:solidFill>
          <a:ln w="12700">
            <a:solidFill>
              <a:srgbClr val="EF4323">
                <a:alpha val="40000"/>
              </a:srgbClr>
            </a:solidFill>
            <a:prstDash val="solid"/>
          </a:ln>
        </p:spPr>
      </p:sp>
      <p:sp>
        <p:nvSpPr>
          <p:cNvPr id="11" name="Text 7"/>
          <p:cNvSpPr/>
          <p:nvPr/>
        </p:nvSpPr>
        <p:spPr>
          <a:xfrm>
            <a:off x="5181600" y="4095750"/>
            <a:ext cx="3505200" cy="631698"/>
          </a:xfrm>
          <a:prstGeom prst="rect">
            <a:avLst/>
          </a:prstGeom>
          <a:noFill/>
          <a:ln/>
        </p:spPr>
        <p:txBody>
          <a:bodyPr wrap="square" lIns="0" tIns="0" rIns="0" bIns="0" rtlCol="0" anchor="ctr"/>
          <a:lstStyle/>
          <a:p>
            <a:pPr marL="0" indent="0">
              <a:buNone/>
            </a:pPr>
            <a:r>
              <a:rPr lang="en-US" sz="1100" dirty="0">
                <a:solidFill>
                  <a:srgbClr val="EF4323"/>
                </a:solidFill>
                <a:latin typeface="Calibri" pitchFamily="34" charset="0"/>
                <a:ea typeface="Calibri" pitchFamily="34" charset="-122"/>
                <a:cs typeface="Calibri" pitchFamily="34" charset="-120"/>
              </a:rPr>
              <a:t>The baseline RF amplifies the bank's age disparity from 0.198 to 0.231 (+0.033). </a:t>
            </a:r>
          </a:p>
          <a:p>
            <a:pPr marL="0" indent="0">
              <a:buNone/>
            </a:pPr>
            <a:r>
              <a:rPr lang="en-US" sz="1100" dirty="0">
                <a:solidFill>
                  <a:srgbClr val="EF4323"/>
                </a:solidFill>
                <a:latin typeface="Calibri" pitchFamily="34" charset="0"/>
                <a:ea typeface="Calibri" pitchFamily="34" charset="-122"/>
                <a:cs typeface="Calibri" pitchFamily="34" charset="-120"/>
              </a:rPr>
              <a:t>Age ranks 7th in MDI at 5.7% - above several features with clear financial content.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9F9"/>
        </a:solidFill>
        <a:effectLst/>
      </p:bgPr>
    </p:bg>
    <p:spTree>
      <p:nvGrpSpPr>
        <p:cNvPr id="1" name=""/>
        <p:cNvGrpSpPr/>
        <p:nvPr/>
      </p:nvGrpSpPr>
      <p:grpSpPr>
        <a:xfrm>
          <a:off x="0" y="0"/>
          <a:ext cx="0" cy="0"/>
          <a:chOff x="0" y="0"/>
          <a:chExt cx="0" cy="0"/>
        </a:xfrm>
      </p:grpSpPr>
      <p:sp>
        <p:nvSpPr>
          <p:cNvPr id="2" name="Text 0"/>
          <p:cNvSpPr/>
          <p:nvPr/>
        </p:nvSpPr>
        <p:spPr>
          <a:xfrm>
            <a:off x="457200" y="0"/>
            <a:ext cx="8229600" cy="978408"/>
          </a:xfrm>
          <a:prstGeom prst="rect">
            <a:avLst/>
          </a:prstGeom>
          <a:noFill/>
          <a:ln/>
        </p:spPr>
        <p:txBody>
          <a:bodyPr wrap="square" lIns="0" tIns="0" rIns="0" bIns="0" rtlCol="0" anchor="ctr"/>
          <a:lstStyle/>
          <a:p>
            <a:pPr marL="0" indent="0">
              <a:buNone/>
            </a:pPr>
            <a:r>
              <a:rPr lang="en-US" sz="3200" b="1" dirty="0">
                <a:solidFill>
                  <a:srgbClr val="131313"/>
                </a:solidFill>
                <a:latin typeface="Cambria" pitchFamily="34" charset="0"/>
                <a:ea typeface="Cambria" pitchFamily="34" charset="-122"/>
                <a:cs typeface="Cambria" pitchFamily="34" charset="-120"/>
              </a:rPr>
              <a:t>04  Three Fairness Interventions</a:t>
            </a:r>
            <a:endParaRPr lang="en-US" sz="3200" dirty="0">
              <a:solidFill>
                <a:srgbClr val="131313"/>
              </a:solidFill>
            </a:endParaRPr>
          </a:p>
        </p:txBody>
      </p:sp>
      <p:sp>
        <p:nvSpPr>
          <p:cNvPr id="3" name="Text 1"/>
          <p:cNvSpPr/>
          <p:nvPr/>
        </p:nvSpPr>
        <p:spPr>
          <a:xfrm>
            <a:off x="457200" y="931099"/>
            <a:ext cx="8229600" cy="365760"/>
          </a:xfrm>
          <a:prstGeom prst="rect">
            <a:avLst/>
          </a:prstGeom>
          <a:noFill/>
          <a:ln/>
        </p:spPr>
        <p:txBody>
          <a:bodyPr wrap="square" lIns="0" tIns="0" rIns="0" bIns="0" rtlCol="0" anchor="ctr"/>
          <a:lstStyle/>
          <a:p>
            <a:pPr marL="0" indent="0">
              <a:buNone/>
            </a:pPr>
            <a:r>
              <a:rPr lang="en-US" sz="1400" i="1" dirty="0">
                <a:solidFill>
                  <a:srgbClr val="131313"/>
                </a:solidFill>
                <a:latin typeface="Calibri" pitchFamily="34" charset="0"/>
                <a:ea typeface="Calibri" pitchFamily="34" charset="-122"/>
                <a:cs typeface="Calibri" pitchFamily="34" charset="-120"/>
              </a:rPr>
              <a:t>One correction at each stage of the machine learning lifecycle</a:t>
            </a:r>
            <a:endParaRPr lang="en-US" sz="1400" dirty="0">
              <a:solidFill>
                <a:srgbClr val="131313"/>
              </a:solidFill>
            </a:endParaRPr>
          </a:p>
        </p:txBody>
      </p:sp>
      <p:grpSp>
        <p:nvGrpSpPr>
          <p:cNvPr id="22" name="Group 21">
            <a:extLst>
              <a:ext uri="{FF2B5EF4-FFF2-40B4-BE49-F238E27FC236}">
                <a16:creationId xmlns:a16="http://schemas.microsoft.com/office/drawing/2014/main" id="{9E817796-AF73-96F0-CE1A-B5B4D140070B}"/>
              </a:ext>
            </a:extLst>
          </p:cNvPr>
          <p:cNvGrpSpPr/>
          <p:nvPr/>
        </p:nvGrpSpPr>
        <p:grpSpPr>
          <a:xfrm>
            <a:off x="304800" y="1428750"/>
            <a:ext cx="2743200" cy="3429000"/>
            <a:chOff x="457200" y="1417320"/>
            <a:chExt cx="2743200" cy="3429000"/>
          </a:xfrm>
        </p:grpSpPr>
        <p:sp>
          <p:nvSpPr>
            <p:cNvPr id="4" name="Shape 2"/>
            <p:cNvSpPr/>
            <p:nvPr/>
          </p:nvSpPr>
          <p:spPr>
            <a:xfrm>
              <a:off x="457200" y="1417320"/>
              <a:ext cx="2743200" cy="3429000"/>
            </a:xfrm>
            <a:prstGeom prst="roundRect">
              <a:avLst>
                <a:gd name="adj" fmla="val 4000"/>
              </a:avLst>
            </a:prstGeom>
            <a:solidFill>
              <a:srgbClr val="2A0A7A">
                <a:alpha val="75000"/>
              </a:srgbClr>
            </a:solidFill>
            <a:ln w="12700">
              <a:solidFill>
                <a:srgbClr val="5804FA">
                  <a:alpha val="50000"/>
                </a:srgbClr>
              </a:solidFill>
              <a:prstDash val="solid"/>
            </a:ln>
          </p:spPr>
        </p:sp>
        <p:sp>
          <p:nvSpPr>
            <p:cNvPr id="5" name="Text 3"/>
            <p:cNvSpPr/>
            <p:nvPr/>
          </p:nvSpPr>
          <p:spPr>
            <a:xfrm>
              <a:off x="566928" y="1536192"/>
              <a:ext cx="2523744" cy="347472"/>
            </a:xfrm>
            <a:prstGeom prst="rect">
              <a:avLst/>
            </a:prstGeom>
            <a:noFill/>
            <a:ln/>
          </p:spPr>
          <p:txBody>
            <a:bodyPr wrap="square" lIns="0" tIns="0" rIns="0" bIns="0" rtlCol="0" anchor="ctr"/>
            <a:lstStyle/>
            <a:p>
              <a:pPr marL="0" indent="0">
                <a:buNone/>
              </a:pPr>
              <a:r>
                <a:rPr lang="en-US" sz="950" b="1" kern="0" spc="200" dirty="0">
                  <a:solidFill>
                    <a:srgbClr val="F9F9F9"/>
                  </a:solidFill>
                  <a:latin typeface="Calibri" pitchFamily="34" charset="0"/>
                  <a:ea typeface="Calibri" pitchFamily="34" charset="-122"/>
                  <a:cs typeface="Calibri" pitchFamily="34" charset="-120"/>
                </a:rPr>
                <a:t>PRE-TRAINING</a:t>
              </a:r>
              <a:endParaRPr lang="en-US" sz="950" dirty="0">
                <a:solidFill>
                  <a:srgbClr val="F9F9F9"/>
                </a:solidFill>
              </a:endParaRPr>
            </a:p>
          </p:txBody>
        </p:sp>
        <p:sp>
          <p:nvSpPr>
            <p:cNvPr id="6" name="Text 4"/>
            <p:cNvSpPr/>
            <p:nvPr/>
          </p:nvSpPr>
          <p:spPr>
            <a:xfrm>
              <a:off x="566928" y="1883664"/>
              <a:ext cx="2523744" cy="475488"/>
            </a:xfrm>
            <a:prstGeom prst="rect">
              <a:avLst/>
            </a:prstGeom>
            <a:noFill/>
            <a:ln/>
          </p:spPr>
          <p:txBody>
            <a:bodyPr wrap="square" lIns="0" tIns="0" rIns="0" bIns="0" rtlCol="0" anchor="ctr"/>
            <a:lstStyle/>
            <a:p>
              <a:pPr marL="0" indent="0">
                <a:buNone/>
              </a:pPr>
              <a:r>
                <a:rPr lang="en-US" sz="1700" b="1" dirty="0">
                  <a:solidFill>
                    <a:srgbClr val="F9F9F9"/>
                  </a:solidFill>
                  <a:latin typeface="Cambria" pitchFamily="34" charset="0"/>
                  <a:ea typeface="Cambria" pitchFamily="34" charset="-122"/>
                  <a:cs typeface="Cambria" pitchFamily="34" charset="-120"/>
                </a:rPr>
                <a:t>Reweighing</a:t>
              </a:r>
              <a:endParaRPr lang="en-US" sz="1700" dirty="0"/>
            </a:p>
          </p:txBody>
        </p:sp>
        <p:sp>
          <p:nvSpPr>
            <p:cNvPr id="7" name="Text 5"/>
            <p:cNvSpPr/>
            <p:nvPr/>
          </p:nvSpPr>
          <p:spPr>
            <a:xfrm>
              <a:off x="566928" y="2331720"/>
              <a:ext cx="2523744" cy="274320"/>
            </a:xfrm>
            <a:prstGeom prst="rect">
              <a:avLst/>
            </a:prstGeom>
            <a:noFill/>
            <a:ln/>
          </p:spPr>
          <p:txBody>
            <a:bodyPr wrap="square" lIns="0" tIns="0" rIns="0" bIns="0" rtlCol="0" anchor="ctr"/>
            <a:lstStyle/>
            <a:p>
              <a:pPr marL="0" indent="0">
                <a:buNone/>
              </a:pPr>
              <a:r>
                <a:rPr lang="en-US" sz="1000" i="1" dirty="0">
                  <a:solidFill>
                    <a:srgbClr val="F9F9F9"/>
                  </a:solidFill>
                  <a:latin typeface="Calibri" pitchFamily="34" charset="0"/>
                  <a:ea typeface="Calibri" pitchFamily="34" charset="-122"/>
                  <a:cs typeface="Calibri" pitchFamily="34" charset="-120"/>
                </a:rPr>
                <a:t>Kamiran &amp; Calders (2012)</a:t>
              </a:r>
              <a:endParaRPr lang="en-US" sz="1000" dirty="0">
                <a:solidFill>
                  <a:srgbClr val="F9F9F9"/>
                </a:solidFill>
              </a:endParaRPr>
            </a:p>
          </p:txBody>
        </p:sp>
        <p:sp>
          <p:nvSpPr>
            <p:cNvPr id="8" name="Text 6"/>
            <p:cNvSpPr/>
            <p:nvPr/>
          </p:nvSpPr>
          <p:spPr>
            <a:xfrm>
              <a:off x="566928" y="2670048"/>
              <a:ext cx="2523744" cy="1298448"/>
            </a:xfrm>
            <a:prstGeom prst="rect">
              <a:avLst/>
            </a:prstGeom>
            <a:noFill/>
            <a:ln/>
          </p:spPr>
          <p:txBody>
            <a:bodyPr wrap="square" lIns="0" tIns="0" rIns="0" bIns="0" rtlCol="0" anchor="ctr"/>
            <a:lstStyle/>
            <a:p>
              <a:pPr marL="0" indent="0">
                <a:buNone/>
              </a:pPr>
              <a:r>
                <a:rPr lang="en-US" sz="1150" dirty="0">
                  <a:solidFill>
                    <a:srgbClr val="F9F9F9"/>
                  </a:solidFill>
                  <a:latin typeface="Calibri" pitchFamily="34" charset="0"/>
                  <a:ea typeface="Calibri" pitchFamily="34" charset="-122"/>
                  <a:cs typeface="Calibri" pitchFamily="34" charset="-120"/>
                </a:rPr>
                <a:t>Sample weights are set so that the joint distribution of (is_young, Good/Bad) is uniform before training. No data is removed or oversampled.</a:t>
              </a:r>
              <a:endParaRPr lang="en-US" sz="1150" dirty="0"/>
            </a:p>
          </p:txBody>
        </p:sp>
        <p:sp>
          <p:nvSpPr>
            <p:cNvPr id="9" name="Text 7"/>
            <p:cNvSpPr/>
            <p:nvPr/>
          </p:nvSpPr>
          <p:spPr>
            <a:xfrm>
              <a:off x="566928" y="4041648"/>
              <a:ext cx="2523744" cy="621792"/>
            </a:xfrm>
            <a:prstGeom prst="rect">
              <a:avLst/>
            </a:prstGeom>
            <a:noFill/>
            <a:ln/>
          </p:spPr>
          <p:txBody>
            <a:bodyPr wrap="square" lIns="0" tIns="0" rIns="0" bIns="0" rtlCol="0" anchor="ctr"/>
            <a:lstStyle/>
            <a:p>
              <a:pPr marL="0" indent="0">
                <a:buNone/>
              </a:pPr>
              <a:r>
                <a:rPr lang="en-US" sz="1050" b="1" i="1" dirty="0">
                  <a:solidFill>
                    <a:srgbClr val="F9F9F9"/>
                  </a:solidFill>
                  <a:latin typeface="Calibri" pitchFamily="34" charset="0"/>
                  <a:ea typeface="Calibri" pitchFamily="34" charset="-122"/>
                  <a:cs typeface="Calibri" pitchFamily="34" charset="-120"/>
                </a:rPr>
                <a:t>Tradeoff: </a:t>
              </a:r>
              <a:r>
                <a:rPr lang="en-US" sz="1050" i="1" dirty="0">
                  <a:solidFill>
                    <a:srgbClr val="F9F9F9"/>
                  </a:solidFill>
                  <a:latin typeface="Calibri" pitchFamily="34" charset="0"/>
                  <a:ea typeface="Calibri" pitchFamily="34" charset="-122"/>
                  <a:cs typeface="Calibri" pitchFamily="34" charset="-120"/>
                </a:rPr>
                <a:t>Model-agnostic. May reduce information available to the learner.</a:t>
              </a:r>
              <a:endParaRPr lang="en-US" sz="1050" dirty="0">
                <a:solidFill>
                  <a:srgbClr val="F9F9F9"/>
                </a:solidFill>
              </a:endParaRPr>
            </a:p>
          </p:txBody>
        </p:sp>
      </p:grpSp>
      <p:grpSp>
        <p:nvGrpSpPr>
          <p:cNvPr id="23" name="Group 22">
            <a:extLst>
              <a:ext uri="{FF2B5EF4-FFF2-40B4-BE49-F238E27FC236}">
                <a16:creationId xmlns:a16="http://schemas.microsoft.com/office/drawing/2014/main" id="{595F1BAF-16BF-2E8A-B21D-607688E47129}"/>
              </a:ext>
            </a:extLst>
          </p:cNvPr>
          <p:cNvGrpSpPr/>
          <p:nvPr/>
        </p:nvGrpSpPr>
        <p:grpSpPr>
          <a:xfrm>
            <a:off x="3203448" y="1428750"/>
            <a:ext cx="2743200" cy="3429000"/>
            <a:chOff x="3355848" y="1417320"/>
            <a:chExt cx="2743200" cy="3429000"/>
          </a:xfrm>
        </p:grpSpPr>
        <p:sp>
          <p:nvSpPr>
            <p:cNvPr id="10" name="Shape 8"/>
            <p:cNvSpPr/>
            <p:nvPr/>
          </p:nvSpPr>
          <p:spPr>
            <a:xfrm>
              <a:off x="3355848" y="1417320"/>
              <a:ext cx="2743200" cy="3429000"/>
            </a:xfrm>
            <a:prstGeom prst="roundRect">
              <a:avLst>
                <a:gd name="adj" fmla="val 4000"/>
              </a:avLst>
            </a:prstGeom>
            <a:solidFill>
              <a:srgbClr val="2A0A7A">
                <a:alpha val="75000"/>
              </a:srgbClr>
            </a:solidFill>
            <a:ln w="12700">
              <a:solidFill>
                <a:srgbClr val="A8C8F0">
                  <a:alpha val="50000"/>
                </a:srgbClr>
              </a:solidFill>
              <a:prstDash val="solid"/>
            </a:ln>
          </p:spPr>
        </p:sp>
        <p:sp>
          <p:nvSpPr>
            <p:cNvPr id="11" name="Text 9"/>
            <p:cNvSpPr/>
            <p:nvPr/>
          </p:nvSpPr>
          <p:spPr>
            <a:xfrm>
              <a:off x="3465576" y="1536192"/>
              <a:ext cx="2523744" cy="347472"/>
            </a:xfrm>
            <a:prstGeom prst="rect">
              <a:avLst/>
            </a:prstGeom>
            <a:noFill/>
            <a:ln/>
          </p:spPr>
          <p:txBody>
            <a:bodyPr wrap="square" lIns="0" tIns="0" rIns="0" bIns="0" rtlCol="0" anchor="ctr"/>
            <a:lstStyle/>
            <a:p>
              <a:pPr marL="0" indent="0">
                <a:buNone/>
              </a:pPr>
              <a:r>
                <a:rPr lang="en-US" sz="950" b="1" kern="0" spc="200" dirty="0">
                  <a:solidFill>
                    <a:srgbClr val="F9F9F9"/>
                  </a:solidFill>
                  <a:latin typeface="Calibri" pitchFamily="34" charset="0"/>
                  <a:ea typeface="Calibri" pitchFamily="34" charset="-122"/>
                  <a:cs typeface="Calibri" pitchFamily="34" charset="-120"/>
                </a:rPr>
                <a:t>IN-TRAINING</a:t>
              </a:r>
              <a:endParaRPr lang="en-US" sz="950" dirty="0">
                <a:solidFill>
                  <a:srgbClr val="F9F9F9"/>
                </a:solidFill>
              </a:endParaRPr>
            </a:p>
          </p:txBody>
        </p:sp>
        <p:sp>
          <p:nvSpPr>
            <p:cNvPr id="12" name="Text 10"/>
            <p:cNvSpPr/>
            <p:nvPr/>
          </p:nvSpPr>
          <p:spPr>
            <a:xfrm>
              <a:off x="3465576" y="1883664"/>
              <a:ext cx="2523744" cy="475488"/>
            </a:xfrm>
            <a:prstGeom prst="rect">
              <a:avLst/>
            </a:prstGeom>
            <a:noFill/>
            <a:ln/>
          </p:spPr>
          <p:txBody>
            <a:bodyPr wrap="square" lIns="0" tIns="0" rIns="0" bIns="0" rtlCol="0" anchor="ctr"/>
            <a:lstStyle/>
            <a:p>
              <a:pPr marL="0" indent="0">
                <a:buNone/>
              </a:pPr>
              <a:r>
                <a:rPr lang="en-US" sz="1700" b="1" dirty="0">
                  <a:solidFill>
                    <a:srgbClr val="F9F9F9"/>
                  </a:solidFill>
                  <a:latin typeface="Cambria" pitchFamily="34" charset="0"/>
                  <a:ea typeface="Cambria" pitchFamily="34" charset="-122"/>
                  <a:cs typeface="Cambria" pitchFamily="34" charset="-120"/>
                </a:rPr>
                <a:t>Cost-Sensitive Weights</a:t>
              </a:r>
              <a:endParaRPr lang="en-US" sz="1700" dirty="0"/>
            </a:p>
          </p:txBody>
        </p:sp>
        <p:sp>
          <p:nvSpPr>
            <p:cNvPr id="13" name="Text 11"/>
            <p:cNvSpPr/>
            <p:nvPr/>
          </p:nvSpPr>
          <p:spPr>
            <a:xfrm>
              <a:off x="3465576" y="2331720"/>
              <a:ext cx="2523744" cy="274320"/>
            </a:xfrm>
            <a:prstGeom prst="rect">
              <a:avLst/>
            </a:prstGeom>
            <a:noFill/>
            <a:ln/>
          </p:spPr>
          <p:txBody>
            <a:bodyPr wrap="square" lIns="0" tIns="0" rIns="0" bIns="0" rtlCol="0" anchor="ctr"/>
            <a:lstStyle/>
            <a:p>
              <a:pPr marL="0" indent="0">
                <a:buNone/>
              </a:pPr>
              <a:r>
                <a:rPr lang="en-US" sz="1000" i="1" dirty="0">
                  <a:solidFill>
                    <a:srgbClr val="F9F9F9"/>
                  </a:solidFill>
                  <a:latin typeface="Calibri" pitchFamily="34" charset="0"/>
                  <a:ea typeface="Calibri" pitchFamily="34" charset="-122"/>
                  <a:cs typeface="Calibri" pitchFamily="34" charset="-120"/>
                </a:rPr>
                <a:t>class_weight = {0:1, 1:5}</a:t>
              </a:r>
              <a:endParaRPr lang="en-US" sz="1000" dirty="0">
                <a:solidFill>
                  <a:srgbClr val="F9F9F9"/>
                </a:solidFill>
              </a:endParaRPr>
            </a:p>
          </p:txBody>
        </p:sp>
        <p:sp>
          <p:nvSpPr>
            <p:cNvPr id="14" name="Text 12"/>
            <p:cNvSpPr/>
            <p:nvPr/>
          </p:nvSpPr>
          <p:spPr>
            <a:xfrm>
              <a:off x="3465576" y="2670048"/>
              <a:ext cx="2523744" cy="1298448"/>
            </a:xfrm>
            <a:prstGeom prst="rect">
              <a:avLst/>
            </a:prstGeom>
            <a:noFill/>
            <a:ln/>
          </p:spPr>
          <p:txBody>
            <a:bodyPr wrap="square" lIns="0" tIns="0" rIns="0" bIns="0" rtlCol="0" anchor="ctr"/>
            <a:lstStyle/>
            <a:p>
              <a:pPr marL="0" indent="0">
                <a:buNone/>
              </a:pPr>
              <a:r>
                <a:rPr lang="en-US" sz="1150" dirty="0">
                  <a:solidFill>
                    <a:srgbClr val="F9F9F9"/>
                  </a:solidFill>
                  <a:latin typeface="Calibri" pitchFamily="34" charset="0"/>
                  <a:ea typeface="Calibri" pitchFamily="34" charset="-122"/>
                  <a:cs typeface="Calibri" pitchFamily="34" charset="-120"/>
                </a:rPr>
                <a:t>Each Bad-label error is penalised five times more heavily at every tree split, encoding the UCI 5:1 cost matrix directly into the learning objective.</a:t>
              </a:r>
              <a:endParaRPr lang="en-US" sz="1150" dirty="0"/>
            </a:p>
          </p:txBody>
        </p:sp>
        <p:sp>
          <p:nvSpPr>
            <p:cNvPr id="15" name="Text 13"/>
            <p:cNvSpPr/>
            <p:nvPr/>
          </p:nvSpPr>
          <p:spPr>
            <a:xfrm>
              <a:off x="3465576" y="4041648"/>
              <a:ext cx="2523744" cy="621792"/>
            </a:xfrm>
            <a:prstGeom prst="rect">
              <a:avLst/>
            </a:prstGeom>
            <a:noFill/>
            <a:ln/>
          </p:spPr>
          <p:txBody>
            <a:bodyPr wrap="square" lIns="0" tIns="0" rIns="0" bIns="0" rtlCol="0" anchor="ctr"/>
            <a:lstStyle/>
            <a:p>
              <a:pPr marL="0" indent="0">
                <a:buNone/>
              </a:pPr>
              <a:r>
                <a:rPr lang="en-US" sz="1050" b="1" i="1" dirty="0">
                  <a:solidFill>
                    <a:srgbClr val="F9F9F9"/>
                  </a:solidFill>
                  <a:latin typeface="Calibri" pitchFamily="34" charset="0"/>
                  <a:ea typeface="Calibri" pitchFamily="34" charset="-122"/>
                  <a:cs typeface="Calibri" pitchFamily="34" charset="-120"/>
                </a:rPr>
                <a:t>Tradeoff: </a:t>
              </a:r>
              <a:r>
                <a:rPr lang="en-US" sz="1050" i="1" dirty="0">
                  <a:solidFill>
                    <a:srgbClr val="F9F9F9"/>
                  </a:solidFill>
                  <a:latin typeface="Calibri" pitchFamily="34" charset="0"/>
                  <a:ea typeface="Calibri" pitchFamily="34" charset="-122"/>
                  <a:cs typeface="Calibri" pitchFamily="34" charset="-120"/>
                </a:rPr>
                <a:t>Targets cost minimisation, not fairness directly. Fairness effect is indirect.</a:t>
              </a:r>
              <a:endParaRPr lang="en-US" sz="1050" dirty="0">
                <a:solidFill>
                  <a:srgbClr val="F9F9F9"/>
                </a:solidFill>
              </a:endParaRPr>
            </a:p>
          </p:txBody>
        </p:sp>
      </p:grpSp>
      <p:grpSp>
        <p:nvGrpSpPr>
          <p:cNvPr id="24" name="Group 23">
            <a:extLst>
              <a:ext uri="{FF2B5EF4-FFF2-40B4-BE49-F238E27FC236}">
                <a16:creationId xmlns:a16="http://schemas.microsoft.com/office/drawing/2014/main" id="{B06CEE24-FA05-55FC-AD4F-9767FC8A9D0E}"/>
              </a:ext>
            </a:extLst>
          </p:cNvPr>
          <p:cNvGrpSpPr/>
          <p:nvPr/>
        </p:nvGrpSpPr>
        <p:grpSpPr>
          <a:xfrm>
            <a:off x="6102096" y="1428750"/>
            <a:ext cx="2743200" cy="3429000"/>
            <a:chOff x="6254496" y="1417320"/>
            <a:chExt cx="2743200" cy="3429000"/>
          </a:xfrm>
        </p:grpSpPr>
        <p:sp>
          <p:nvSpPr>
            <p:cNvPr id="16" name="Shape 14"/>
            <p:cNvSpPr/>
            <p:nvPr/>
          </p:nvSpPr>
          <p:spPr>
            <a:xfrm>
              <a:off x="6254496" y="1417320"/>
              <a:ext cx="2743200" cy="3429000"/>
            </a:xfrm>
            <a:prstGeom prst="roundRect">
              <a:avLst>
                <a:gd name="adj" fmla="val 4000"/>
              </a:avLst>
            </a:prstGeom>
            <a:solidFill>
              <a:srgbClr val="2A0A7A">
                <a:alpha val="75000"/>
              </a:srgbClr>
            </a:solidFill>
            <a:ln w="12700">
              <a:solidFill>
                <a:srgbClr val="F9F9F9">
                  <a:alpha val="50000"/>
                </a:srgbClr>
              </a:solidFill>
              <a:prstDash val="solid"/>
            </a:ln>
          </p:spPr>
        </p:sp>
        <p:sp>
          <p:nvSpPr>
            <p:cNvPr id="17" name="Text 15"/>
            <p:cNvSpPr/>
            <p:nvPr/>
          </p:nvSpPr>
          <p:spPr>
            <a:xfrm>
              <a:off x="6364224" y="1536192"/>
              <a:ext cx="2523744" cy="347472"/>
            </a:xfrm>
            <a:prstGeom prst="rect">
              <a:avLst/>
            </a:prstGeom>
            <a:noFill/>
            <a:ln/>
          </p:spPr>
          <p:txBody>
            <a:bodyPr wrap="square" lIns="0" tIns="0" rIns="0" bIns="0" rtlCol="0" anchor="ctr"/>
            <a:lstStyle/>
            <a:p>
              <a:pPr marL="0" indent="0">
                <a:buNone/>
              </a:pPr>
              <a:r>
                <a:rPr lang="en-US" sz="950" b="1" kern="0" spc="200" dirty="0">
                  <a:solidFill>
                    <a:srgbClr val="F9F9F9"/>
                  </a:solidFill>
                  <a:latin typeface="Calibri" pitchFamily="34" charset="0"/>
                  <a:ea typeface="Calibri" pitchFamily="34" charset="-122"/>
                  <a:cs typeface="Calibri" pitchFamily="34" charset="-120"/>
                </a:rPr>
                <a:t>POST-TRAINING</a:t>
              </a:r>
              <a:endParaRPr lang="en-US" sz="950" dirty="0">
                <a:solidFill>
                  <a:srgbClr val="F9F9F9"/>
                </a:solidFill>
              </a:endParaRPr>
            </a:p>
          </p:txBody>
        </p:sp>
        <p:sp>
          <p:nvSpPr>
            <p:cNvPr id="18" name="Text 16"/>
            <p:cNvSpPr/>
            <p:nvPr/>
          </p:nvSpPr>
          <p:spPr>
            <a:xfrm>
              <a:off x="6364224" y="1883664"/>
              <a:ext cx="2523744" cy="475488"/>
            </a:xfrm>
            <a:prstGeom prst="rect">
              <a:avLst/>
            </a:prstGeom>
            <a:noFill/>
            <a:ln/>
          </p:spPr>
          <p:txBody>
            <a:bodyPr wrap="square" lIns="0" tIns="0" rIns="0" bIns="0" rtlCol="0" anchor="ctr"/>
            <a:lstStyle/>
            <a:p>
              <a:pPr marL="0" indent="0">
                <a:buNone/>
              </a:pPr>
              <a:r>
                <a:rPr lang="en-US" sz="1700" b="1" dirty="0">
                  <a:solidFill>
                    <a:srgbClr val="F9F9F9"/>
                  </a:solidFill>
                  <a:latin typeface="Cambria" pitchFamily="34" charset="0"/>
                  <a:ea typeface="Cambria" pitchFamily="34" charset="-122"/>
                  <a:cs typeface="Cambria" pitchFamily="34" charset="-120"/>
                </a:rPr>
                <a:t>Group Thresholds</a:t>
              </a:r>
              <a:endParaRPr lang="en-US" sz="1700" dirty="0"/>
            </a:p>
          </p:txBody>
        </p:sp>
        <p:sp>
          <p:nvSpPr>
            <p:cNvPr id="19" name="Text 17"/>
            <p:cNvSpPr/>
            <p:nvPr/>
          </p:nvSpPr>
          <p:spPr>
            <a:xfrm>
              <a:off x="6364224" y="2331720"/>
              <a:ext cx="2523744" cy="274320"/>
            </a:xfrm>
            <a:prstGeom prst="rect">
              <a:avLst/>
            </a:prstGeom>
            <a:noFill/>
            <a:ln/>
          </p:spPr>
          <p:txBody>
            <a:bodyPr wrap="square" lIns="0" tIns="0" rIns="0" bIns="0" rtlCol="0" anchor="ctr"/>
            <a:lstStyle/>
            <a:p>
              <a:pPr marL="0" indent="0">
                <a:buNone/>
              </a:pPr>
              <a:r>
                <a:rPr lang="en-US" sz="1000" i="1" dirty="0">
                  <a:solidFill>
                    <a:srgbClr val="F9F9F9"/>
                  </a:solidFill>
                  <a:latin typeface="Calibri" pitchFamily="34" charset="0"/>
                  <a:ea typeface="Calibri" pitchFamily="34" charset="-122"/>
                  <a:cs typeface="Calibri" pitchFamily="34" charset="-120"/>
                </a:rPr>
                <a:t>Hardt et al. (2016)</a:t>
              </a:r>
              <a:endParaRPr lang="en-US" sz="1000" dirty="0">
                <a:solidFill>
                  <a:srgbClr val="F9F9F9"/>
                </a:solidFill>
              </a:endParaRPr>
            </a:p>
          </p:txBody>
        </p:sp>
        <p:sp>
          <p:nvSpPr>
            <p:cNvPr id="20" name="Text 18"/>
            <p:cNvSpPr/>
            <p:nvPr/>
          </p:nvSpPr>
          <p:spPr>
            <a:xfrm>
              <a:off x="6364224" y="2670048"/>
              <a:ext cx="2523744" cy="1298448"/>
            </a:xfrm>
            <a:prstGeom prst="rect">
              <a:avLst/>
            </a:prstGeom>
            <a:noFill/>
            <a:ln/>
          </p:spPr>
          <p:txBody>
            <a:bodyPr wrap="square" lIns="0" tIns="0" rIns="0" bIns="0" rtlCol="0" anchor="ctr"/>
            <a:lstStyle/>
            <a:p>
              <a:pPr marL="0" indent="0">
                <a:buNone/>
              </a:pPr>
              <a:r>
                <a:rPr lang="en-US" sz="1150" dirty="0">
                  <a:solidFill>
                    <a:srgbClr val="F9F9F9"/>
                  </a:solidFill>
                  <a:latin typeface="Calibri" pitchFamily="34" charset="0"/>
                  <a:ea typeface="Calibri" pitchFamily="34" charset="-122"/>
                  <a:cs typeface="Calibri" pitchFamily="34" charset="-120"/>
                </a:rPr>
                <a:t>Two thresholds are applied after training: 0.</a:t>
              </a:r>
              <a:r>
                <a:rPr lang="ru-RU" sz="1150" dirty="0">
                  <a:solidFill>
                    <a:srgbClr val="F9F9F9"/>
                  </a:solidFill>
                  <a:latin typeface="Calibri" pitchFamily="34" charset="0"/>
                  <a:ea typeface="Calibri" pitchFamily="34" charset="-122"/>
                  <a:cs typeface="Calibri" pitchFamily="34" charset="-120"/>
                </a:rPr>
                <a:t>4</a:t>
              </a:r>
              <a:r>
                <a:rPr lang="en-US" sz="1150" dirty="0">
                  <a:solidFill>
                    <a:srgbClr val="F9F9F9"/>
                  </a:solidFill>
                  <a:latin typeface="Calibri" pitchFamily="34" charset="0"/>
                  <a:ea typeface="Calibri" pitchFamily="34" charset="-122"/>
                  <a:cs typeface="Calibri" pitchFamily="34" charset="-120"/>
                </a:rPr>
                <a:t> for young applicants, 0.30 for others. Requires greater model confidence before flagging young applicants as Bad.</a:t>
              </a:r>
              <a:endParaRPr lang="en-US" sz="1150" dirty="0"/>
            </a:p>
          </p:txBody>
        </p:sp>
        <p:sp>
          <p:nvSpPr>
            <p:cNvPr id="21" name="Text 19"/>
            <p:cNvSpPr/>
            <p:nvPr/>
          </p:nvSpPr>
          <p:spPr>
            <a:xfrm>
              <a:off x="6364224" y="4041648"/>
              <a:ext cx="2523744" cy="621792"/>
            </a:xfrm>
            <a:prstGeom prst="rect">
              <a:avLst/>
            </a:prstGeom>
            <a:noFill/>
            <a:ln/>
          </p:spPr>
          <p:txBody>
            <a:bodyPr wrap="square" lIns="0" tIns="0" rIns="0" bIns="0" rtlCol="0" anchor="ctr"/>
            <a:lstStyle/>
            <a:p>
              <a:pPr marL="0" indent="0">
                <a:buNone/>
              </a:pPr>
              <a:r>
                <a:rPr lang="en-US" sz="1050" b="1" i="1" dirty="0">
                  <a:solidFill>
                    <a:srgbClr val="F9F9F9"/>
                  </a:solidFill>
                  <a:latin typeface="Calibri" pitchFamily="34" charset="0"/>
                  <a:ea typeface="Calibri" pitchFamily="34" charset="-122"/>
                  <a:cs typeface="Calibri" pitchFamily="34" charset="-120"/>
                </a:rPr>
                <a:t>Tradeoff: </a:t>
              </a:r>
              <a:r>
                <a:rPr lang="en-US" sz="1050" i="1" dirty="0">
                  <a:solidFill>
                    <a:srgbClr val="F9F9F9"/>
                  </a:solidFill>
                  <a:latin typeface="Calibri" pitchFamily="34" charset="0"/>
                  <a:ea typeface="Calibri" pitchFamily="34" charset="-122"/>
                  <a:cs typeface="Calibri" pitchFamily="34" charset="-120"/>
                </a:rPr>
                <a:t>No retraining needed. Only shifts the decision boundary, not the model itself.</a:t>
              </a:r>
              <a:endParaRPr lang="en-US" sz="1050" dirty="0">
                <a:solidFill>
                  <a:srgbClr val="F9F9F9"/>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1313"/>
          </a:solidFill>
          <a:ln w="12700">
            <a:solidFill>
              <a:srgbClr val="131313"/>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marL="0" indent="0">
              <a:buNone/>
            </a:pPr>
            <a:r>
              <a:rPr lang="en-US" sz="2800" b="1" dirty="0">
                <a:solidFill>
                  <a:srgbClr val="F9F9F9"/>
                </a:solidFill>
                <a:latin typeface="Cambria" pitchFamily="34" charset="0"/>
                <a:ea typeface="Cambria" pitchFamily="34" charset="-122"/>
                <a:cs typeface="Cambria" pitchFamily="34" charset="-120"/>
              </a:rPr>
              <a:t>05  Results - All Models on the Test Set  (N = 200)</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3589326791"/>
              </p:ext>
            </p:extLst>
          </p:nvPr>
        </p:nvGraphicFramePr>
        <p:xfrm>
          <a:off x="457201" y="1047751"/>
          <a:ext cx="4114800" cy="2220128"/>
        </p:xfrm>
        <a:graphic>
          <a:graphicData uri="http://schemas.openxmlformats.org/drawingml/2006/table">
            <a:tbl>
              <a:tblPr/>
              <a:tblGrid>
                <a:gridCol w="1130440">
                  <a:extLst>
                    <a:ext uri="{9D8B030D-6E8A-4147-A177-3AD203B41FA5}">
                      <a16:colId xmlns:a16="http://schemas.microsoft.com/office/drawing/2014/main" val="20000"/>
                    </a:ext>
                  </a:extLst>
                </a:gridCol>
                <a:gridCol w="497393">
                  <a:extLst>
                    <a:ext uri="{9D8B030D-6E8A-4147-A177-3AD203B41FA5}">
                      <a16:colId xmlns:a16="http://schemas.microsoft.com/office/drawing/2014/main" val="20001"/>
                    </a:ext>
                  </a:extLst>
                </a:gridCol>
                <a:gridCol w="497393">
                  <a:extLst>
                    <a:ext uri="{9D8B030D-6E8A-4147-A177-3AD203B41FA5}">
                      <a16:colId xmlns:a16="http://schemas.microsoft.com/office/drawing/2014/main" val="20002"/>
                    </a:ext>
                  </a:extLst>
                </a:gridCol>
                <a:gridCol w="678264">
                  <a:extLst>
                    <a:ext uri="{9D8B030D-6E8A-4147-A177-3AD203B41FA5}">
                      <a16:colId xmlns:a16="http://schemas.microsoft.com/office/drawing/2014/main" val="20003"/>
                    </a:ext>
                  </a:extLst>
                </a:gridCol>
                <a:gridCol w="1311310">
                  <a:extLst>
                    <a:ext uri="{9D8B030D-6E8A-4147-A177-3AD203B41FA5}">
                      <a16:colId xmlns:a16="http://schemas.microsoft.com/office/drawing/2014/main" val="20004"/>
                    </a:ext>
                  </a:extLst>
                </a:gridCol>
              </a:tblGrid>
              <a:tr h="360946">
                <a:tc>
                  <a:txBody>
                    <a:bodyPr/>
                    <a:lstStyle/>
                    <a:p>
                      <a:pPr marL="0" indent="0">
                        <a:buNone/>
                      </a:pPr>
                      <a:r>
                        <a:rPr lang="en-US" sz="1000" b="1" dirty="0">
                          <a:solidFill>
                            <a:srgbClr val="F9F9F9"/>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tc>
                  <a:txBody>
                    <a:bodyPr/>
                    <a:lstStyle/>
                    <a:p>
                      <a:pPr marL="0" indent="0" algn="ctr">
                        <a:buNone/>
                      </a:pPr>
                      <a:r>
                        <a:rPr lang="en-US" sz="1000" b="1" dirty="0">
                          <a:solidFill>
                            <a:srgbClr val="F9F9F9"/>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tc>
                  <a:txBody>
                    <a:bodyPr/>
                    <a:lstStyle/>
                    <a:p>
                      <a:pPr marL="0" indent="0" algn="ctr">
                        <a:buNone/>
                      </a:pPr>
                      <a:r>
                        <a:rPr lang="en-US" sz="1000" b="1" dirty="0">
                          <a:solidFill>
                            <a:srgbClr val="F9F9F9"/>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tc>
                  <a:txBody>
                    <a:bodyPr/>
                    <a:lstStyle/>
                    <a:p>
                      <a:pPr marL="0" indent="0" algn="ctr">
                        <a:buNone/>
                      </a:pPr>
                      <a:r>
                        <a:rPr lang="en-US" sz="1000" b="1" dirty="0">
                          <a:solidFill>
                            <a:srgbClr val="F9F9F9"/>
                          </a:solidFill>
                          <a:latin typeface="Calibri" pitchFamily="34" charset="0"/>
                          <a:ea typeface="Calibri" pitchFamily="34" charset="-122"/>
                          <a:cs typeface="Calibri" pitchFamily="34" charset="-120"/>
                        </a:rPr>
                        <a:t>DP Gap (Age)</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tc>
                  <a:txBody>
                    <a:bodyPr/>
                    <a:lstStyle/>
                    <a:p>
                      <a:pPr marL="0" indent="0" algn="ctr">
                        <a:buNone/>
                      </a:pPr>
                      <a:r>
                        <a:rPr lang="en-US" sz="1000" b="1" dirty="0">
                          <a:solidFill>
                            <a:srgbClr val="F9F9F9"/>
                          </a:solidFill>
                          <a:latin typeface="Calibri" pitchFamily="34" charset="0"/>
                          <a:ea typeface="Calibri" pitchFamily="34" charset="-122"/>
                          <a:cs typeface="Calibri" pitchFamily="34" charset="-120"/>
                        </a:rPr>
                        <a:t>vs. Bank Level</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131313"/>
                    </a:solidFill>
                  </a:tcPr>
                </a:tc>
                <a:extLst>
                  <a:ext uri="{0D108BD9-81ED-4DB2-BD59-A6C34878D82A}">
                    <a16:rowId xmlns:a16="http://schemas.microsoft.com/office/drawing/2014/main" val="10000"/>
                  </a:ext>
                </a:extLst>
              </a:tr>
              <a:tr h="272644">
                <a:tc>
                  <a:txBody>
                    <a:bodyPr/>
                    <a:lstStyle/>
                    <a:p>
                      <a:pPr marL="0" indent="0">
                        <a:buNone/>
                      </a:pPr>
                      <a:r>
                        <a:rPr lang="en-US" sz="1000" i="1" dirty="0">
                          <a:solidFill>
                            <a:srgbClr val="888888"/>
                          </a:solidFill>
                          <a:latin typeface="Calibri" pitchFamily="34" charset="0"/>
                          <a:ea typeface="Calibri" pitchFamily="34" charset="-122"/>
                          <a:cs typeface="Calibri" pitchFamily="34" charset="-120"/>
                        </a:rPr>
                        <a:t>Bank (original)</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i="1" dirty="0">
                          <a:solidFill>
                            <a:srgbClr val="888888"/>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i="1" dirty="0">
                          <a:solidFill>
                            <a:srgbClr val="888888"/>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i="1" dirty="0">
                          <a:solidFill>
                            <a:srgbClr val="888888"/>
                          </a:solidFill>
                          <a:latin typeface="Calibri" pitchFamily="34" charset="0"/>
                          <a:ea typeface="Calibri" pitchFamily="34" charset="-122"/>
                          <a:cs typeface="Calibri" pitchFamily="34" charset="-120"/>
                        </a:rPr>
                        <a:t>0.198</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i="1" dirty="0">
                          <a:solidFill>
                            <a:srgbClr val="888888"/>
                          </a:solidFill>
                          <a:latin typeface="Calibri" pitchFamily="34" charset="0"/>
                          <a:ea typeface="Calibri" pitchFamily="34" charset="-122"/>
                          <a:cs typeface="Calibri" pitchFamily="34" charset="-120"/>
                        </a:rPr>
                        <a:t>reference</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1"/>
                  </a:ext>
                </a:extLst>
              </a:tr>
              <a:tr h="272644">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Baseline RF</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0.793</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0.670</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b="1" dirty="0">
                          <a:solidFill>
                            <a:srgbClr val="EF4323"/>
                          </a:solidFill>
                          <a:latin typeface="Calibri" pitchFamily="34" charset="0"/>
                          <a:ea typeface="Calibri" pitchFamily="34" charset="-122"/>
                          <a:cs typeface="Calibri" pitchFamily="34" charset="-120"/>
                        </a:rPr>
                        <a:t>0.231</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b="1" dirty="0">
                          <a:solidFill>
                            <a:srgbClr val="EF4323"/>
                          </a:solidFill>
                          <a:latin typeface="Calibri" pitchFamily="34" charset="0"/>
                          <a:ea typeface="Calibri" pitchFamily="34" charset="-122"/>
                          <a:cs typeface="Calibri" pitchFamily="34" charset="-120"/>
                        </a:rPr>
                        <a:t>+0.033  (amplified)</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2"/>
                  </a:ext>
                </a:extLst>
              </a:tr>
              <a:tr h="36094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Pre-Training  (Reweighing)</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0.790</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0.640</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22E563"/>
                          </a:solidFill>
                          <a:latin typeface="Calibri" pitchFamily="34" charset="0"/>
                          <a:ea typeface="Calibri" pitchFamily="34" charset="-122"/>
                          <a:cs typeface="Calibri" pitchFamily="34" charset="-120"/>
                        </a:rPr>
                        <a:t>0.114</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22E563"/>
                          </a:solidFill>
                          <a:latin typeface="Calibri" pitchFamily="34" charset="0"/>
                          <a:ea typeface="Calibri" pitchFamily="34" charset="-122"/>
                          <a:cs typeface="Calibri" pitchFamily="34" charset="-120"/>
                        </a:rPr>
                        <a:t>−42.3% below bank</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3"/>
                  </a:ext>
                </a:extLst>
              </a:tr>
              <a:tr h="360946">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In-Training  (Cost Weights 1:5)</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0.793</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0.490</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22E563"/>
                          </a:solidFill>
                          <a:latin typeface="Calibri" pitchFamily="34" charset="0"/>
                          <a:ea typeface="Calibri" pitchFamily="34" charset="-122"/>
                          <a:cs typeface="Calibri" pitchFamily="34" charset="-120"/>
                        </a:rPr>
                        <a:t>0.178</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dirty="0">
                          <a:solidFill>
                            <a:srgbClr val="22E563"/>
                          </a:solidFill>
                          <a:latin typeface="Calibri" pitchFamily="34" charset="0"/>
                          <a:ea typeface="Calibri" pitchFamily="34" charset="-122"/>
                          <a:cs typeface="Calibri" pitchFamily="34" charset="-120"/>
                        </a:rPr>
                        <a:t>below bank level</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4"/>
                  </a:ext>
                </a:extLst>
              </a:tr>
              <a:tr h="505473">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Post-Training  (Group Thresholds)</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0.793</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indent="0" algn="ctr">
                        <a:buNone/>
                      </a:pPr>
                      <a:r>
                        <a:rPr lang="en-IL" sz="1000" b="1" i="0" u="none" strike="noStrike" dirty="0">
                          <a:solidFill>
                            <a:srgbClr val="000000"/>
                          </a:solidFill>
                          <a:effectLst/>
                          <a:latin typeface="-webkit-standard"/>
                        </a:rPr>
                        <a:t>0.535</a:t>
                      </a:r>
                      <a:endParaRPr lang="en-US" sz="1000" b="1"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22E563"/>
                          </a:solidFill>
                          <a:latin typeface="Calibri" pitchFamily="34" charset="0"/>
                          <a:ea typeface="Calibri" pitchFamily="34" charset="-122"/>
                          <a:cs typeface="Calibri" pitchFamily="34" charset="-120"/>
                        </a:rPr>
                        <a:t>0.045</a:t>
                      </a:r>
                      <a:endParaRPr lang="en-US" sz="1000" dirty="0">
                        <a:latin typeface="Calibri" charset="0"/>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dirty="0">
                          <a:solidFill>
                            <a:srgbClr val="23E563"/>
                          </a:solidFill>
                          <a:effectLst/>
                          <a:latin typeface="+mn-lt"/>
                        </a:rPr>
                        <a:t>Best - 77.3% below bank</a:t>
                      </a:r>
                      <a:endParaRPr lang="en-US" sz="1000" b="1" dirty="0">
                        <a:solidFill>
                          <a:srgbClr val="23E563"/>
                        </a:solidFill>
                        <a:latin typeface="+mn-lt"/>
                        <a:ea typeface="Calibri" charset="0"/>
                        <a:cs typeface="Calibri" charset="0"/>
                      </a:endParaRPr>
                    </a:p>
                  </a:txBody>
                  <a:tcPr marL="75809" marR="75809" marT="37905" marB="37905">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p:nvPr/>
        </p:nvSpPr>
        <p:spPr>
          <a:xfrm>
            <a:off x="457200" y="3547872"/>
            <a:ext cx="8443438" cy="1463040"/>
          </a:xfrm>
          <a:prstGeom prst="rect">
            <a:avLst/>
          </a:prstGeom>
          <a:noFill/>
          <a:ln/>
        </p:spPr>
        <p:txBody>
          <a:bodyPr wrap="square" rtlCol="0" anchor="ctr"/>
          <a:lstStyle/>
          <a:p>
            <a:pPr marL="342900" indent="-342900">
              <a:buSzPct val="100000"/>
              <a:buChar char="•"/>
            </a:pPr>
            <a:r>
              <a:rPr lang="en-US" sz="1150" dirty="0">
                <a:solidFill>
                  <a:srgbClr val="131313"/>
                </a:solidFill>
                <a:latin typeface="Calibri" pitchFamily="34" charset="0"/>
                <a:ea typeface="Calibri" pitchFamily="34" charset="-122"/>
                <a:cs typeface="Calibri" pitchFamily="34" charset="-120"/>
              </a:rPr>
              <a:t>All three interventions reduce the DP gap below the bank's own 0.198.</a:t>
            </a:r>
            <a:endParaRPr lang="en-US" sz="1150" dirty="0"/>
          </a:p>
          <a:p>
            <a:pPr marL="342900" indent="-342900">
              <a:buSzPct val="100000"/>
              <a:buChar char="•"/>
            </a:pPr>
            <a:r>
              <a:rPr lang="en-US" sz="1150" dirty="0">
                <a:solidFill>
                  <a:srgbClr val="131313"/>
                </a:solidFill>
                <a:latin typeface="Calibri" pitchFamily="34" charset="0"/>
                <a:ea typeface="Calibri" pitchFamily="34" charset="-122"/>
                <a:cs typeface="Calibri" pitchFamily="34" charset="-120"/>
              </a:rPr>
              <a:t>Post-training group thresholds: by far the lowest DP gap (0.045, −77% vs bank) with no loss in ROC-AUC, but a larger accuracy cost (−13.5 pp vs baseline) than reweighing.</a:t>
            </a:r>
          </a:p>
          <a:p>
            <a:pPr marL="342900" indent="-342900">
              <a:buSzPct val="100000"/>
              <a:buChar char="•"/>
            </a:pPr>
            <a:r>
              <a:rPr lang="en-US" sz="1150" dirty="0">
                <a:solidFill>
                  <a:srgbClr val="131313"/>
                </a:solidFill>
                <a:latin typeface="Calibri" pitchFamily="34" charset="0"/>
                <a:ea typeface="Calibri" pitchFamily="34" charset="-122"/>
                <a:cs typeface="Calibri" pitchFamily="34" charset="-120"/>
              </a:rPr>
              <a:t>Reweighing: the best accuracy-fairness balance of the three — a solid 42% DP gap reduction at only −3 pp accuracy cost.</a:t>
            </a:r>
          </a:p>
          <a:p>
            <a:pPr marL="342900" indent="-342900">
              <a:buSzPct val="100000"/>
              <a:buChar char="•"/>
            </a:pPr>
            <a:r>
              <a:rPr lang="en-US" sz="1150" dirty="0">
                <a:solidFill>
                  <a:srgbClr val="131313"/>
                </a:solidFill>
                <a:latin typeface="Calibri" pitchFamily="34" charset="0"/>
                <a:ea typeface="Calibri" pitchFamily="34" charset="-122"/>
                <a:cs typeface="Calibri" pitchFamily="34" charset="-120"/>
              </a:rPr>
              <a:t>Cost weighting: least effective on fairness — designed for cost </a:t>
            </a:r>
            <a:r>
              <a:rPr lang="en-US" sz="1150" dirty="0" err="1">
                <a:solidFill>
                  <a:srgbClr val="131313"/>
                </a:solidFill>
                <a:latin typeface="Calibri" pitchFamily="34" charset="0"/>
                <a:ea typeface="Calibri" pitchFamily="34" charset="-122"/>
                <a:cs typeface="Calibri" pitchFamily="34" charset="-120"/>
              </a:rPr>
              <a:t>minimisation</a:t>
            </a:r>
            <a:r>
              <a:rPr lang="en-US" sz="1150" dirty="0">
                <a:solidFill>
                  <a:srgbClr val="131313"/>
                </a:solidFill>
                <a:latin typeface="Calibri" pitchFamily="34" charset="0"/>
                <a:ea typeface="Calibri" pitchFamily="34" charset="-122"/>
                <a:cs typeface="Calibri" pitchFamily="34" charset="-120"/>
              </a:rPr>
              <a:t>, not parity — and the largest accuracy cost (−18 pp) of any intervention.</a:t>
            </a:r>
            <a:endParaRPr lang="en-US" sz="1150" dirty="0"/>
          </a:p>
        </p:txBody>
      </p:sp>
      <p:pic>
        <p:nvPicPr>
          <p:cNvPr id="7" name="Picture 6" descr="A graph of different colored bars&#10;&#10;AI-generated content may be incorrect.">
            <a:extLst>
              <a:ext uri="{FF2B5EF4-FFF2-40B4-BE49-F238E27FC236}">
                <a16:creationId xmlns:a16="http://schemas.microsoft.com/office/drawing/2014/main" id="{1C41A0AB-2BEA-FB6B-8179-5BB058DB43CE}"/>
              </a:ext>
            </a:extLst>
          </p:cNvPr>
          <p:cNvPicPr>
            <a:picLocks noChangeAspect="1"/>
          </p:cNvPicPr>
          <p:nvPr/>
        </p:nvPicPr>
        <p:blipFill>
          <a:blip r:embed="rId3"/>
          <a:stretch>
            <a:fillRect/>
          </a:stretch>
        </p:blipFill>
        <p:spPr>
          <a:xfrm>
            <a:off x="4800600" y="1050166"/>
            <a:ext cx="4100038" cy="25336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31313"/>
          </a:solidFill>
          <a:ln w="12700">
            <a:solidFill>
              <a:srgbClr val="131313"/>
            </a:solidFill>
            <a:prstDash val="solid"/>
          </a:ln>
        </p:spPr>
      </p:sp>
      <p:sp>
        <p:nvSpPr>
          <p:cNvPr id="3" name="Text 1"/>
          <p:cNvSpPr/>
          <p:nvPr/>
        </p:nvSpPr>
        <p:spPr>
          <a:xfrm>
            <a:off x="457200" y="0"/>
            <a:ext cx="8229600" cy="960120"/>
          </a:xfrm>
          <a:prstGeom prst="rect">
            <a:avLst/>
          </a:prstGeom>
          <a:noFill/>
          <a:ln/>
        </p:spPr>
        <p:txBody>
          <a:bodyPr wrap="square" lIns="0" tIns="0" rIns="0" bIns="0" rtlCol="0" anchor="ctr"/>
          <a:lstStyle/>
          <a:p>
            <a:pPr marL="0" indent="0">
              <a:buNone/>
            </a:pPr>
            <a:r>
              <a:rPr lang="en-US" sz="3000" b="1" dirty="0">
                <a:solidFill>
                  <a:srgbClr val="F9F9F9"/>
                </a:solidFill>
                <a:latin typeface="Cambria" pitchFamily="34" charset="0"/>
                <a:ea typeface="Cambria" pitchFamily="34" charset="-122"/>
                <a:cs typeface="Cambria" pitchFamily="34" charset="-120"/>
              </a:rPr>
              <a:t>Discussion &amp; Conclusion</a:t>
            </a:r>
            <a:endParaRPr lang="en-US" sz="3000" dirty="0"/>
          </a:p>
        </p:txBody>
      </p:sp>
      <p:grpSp>
        <p:nvGrpSpPr>
          <p:cNvPr id="15" name="Group 14">
            <a:extLst>
              <a:ext uri="{FF2B5EF4-FFF2-40B4-BE49-F238E27FC236}">
                <a16:creationId xmlns:a16="http://schemas.microsoft.com/office/drawing/2014/main" id="{71A1876F-D631-B15D-38BE-BD7205B136A5}"/>
              </a:ext>
            </a:extLst>
          </p:cNvPr>
          <p:cNvGrpSpPr/>
          <p:nvPr/>
        </p:nvGrpSpPr>
        <p:grpSpPr>
          <a:xfrm>
            <a:off x="457200" y="1047750"/>
            <a:ext cx="8229600" cy="1024128"/>
            <a:chOff x="457200" y="1115568"/>
            <a:chExt cx="8229600" cy="1024128"/>
          </a:xfrm>
        </p:grpSpPr>
        <p:sp>
          <p:nvSpPr>
            <p:cNvPr id="4" name="Shape 2"/>
            <p:cNvSpPr/>
            <p:nvPr/>
          </p:nvSpPr>
          <p:spPr>
            <a:xfrm>
              <a:off x="457200" y="1115568"/>
              <a:ext cx="8229600" cy="1024128"/>
            </a:xfrm>
            <a:prstGeom prst="roundRect">
              <a:avLst>
                <a:gd name="adj" fmla="val 7143"/>
              </a:avLst>
            </a:prstGeom>
            <a:solidFill>
              <a:srgbClr val="F9F9F9"/>
            </a:solidFill>
            <a:ln/>
            <a:effectLst>
              <a:outerShdw blurRad="63500" dist="12700" dir="2700000" algn="bl" rotWithShape="0">
                <a:srgbClr val="000000">
                  <a:alpha val="8000"/>
                </a:srgbClr>
              </a:outerShdw>
            </a:effectLst>
          </p:spPr>
        </p:sp>
        <p:sp>
          <p:nvSpPr>
            <p:cNvPr id="5" name="Text 3"/>
            <p:cNvSpPr/>
            <p:nvPr/>
          </p:nvSpPr>
          <p:spPr>
            <a:xfrm>
              <a:off x="533400" y="1207008"/>
              <a:ext cx="7467600" cy="320040"/>
            </a:xfrm>
            <a:prstGeom prst="rect">
              <a:avLst/>
            </a:prstGeom>
            <a:noFill/>
            <a:ln/>
          </p:spPr>
          <p:txBody>
            <a:bodyPr wrap="square" lIns="0" tIns="0" rIns="0" bIns="0" rtlCol="0" anchor="ctr"/>
            <a:lstStyle/>
            <a:p>
              <a:pPr marL="0" indent="0">
                <a:buNone/>
              </a:pPr>
              <a:r>
                <a:rPr lang="en-US" sz="1400" b="1" dirty="0">
                  <a:solidFill>
                    <a:srgbClr val="131313"/>
                  </a:solidFill>
                  <a:latin typeface="Cambria" pitchFamily="34" charset="0"/>
                  <a:ea typeface="Cambria" pitchFamily="34" charset="-122"/>
                  <a:cs typeface="Cambria" pitchFamily="34" charset="-120"/>
                </a:rPr>
                <a:t>Bias is inherited and amplified</a:t>
              </a:r>
              <a:endParaRPr lang="en-US" sz="1400" dirty="0"/>
            </a:p>
          </p:txBody>
        </p:sp>
        <p:sp>
          <p:nvSpPr>
            <p:cNvPr id="6" name="Text 4"/>
            <p:cNvSpPr/>
            <p:nvPr/>
          </p:nvSpPr>
          <p:spPr>
            <a:xfrm>
              <a:off x="533400" y="1554480"/>
              <a:ext cx="7955280" cy="502920"/>
            </a:xfrm>
            <a:prstGeom prst="rect">
              <a:avLst/>
            </a:prstGeom>
            <a:noFill/>
            <a:ln/>
          </p:spPr>
          <p:txBody>
            <a:bodyPr wrap="square" lIns="0" tIns="0" rIns="0" bIns="0" rtlCol="0" anchor="ctr"/>
            <a:lstStyle/>
            <a:p>
              <a:pPr marL="0" indent="0">
                <a:buNone/>
              </a:pPr>
              <a:r>
                <a:rPr lang="en-US" sz="1200" dirty="0">
                  <a:solidFill>
                    <a:srgbClr val="131313"/>
                  </a:solidFill>
                  <a:latin typeface="Calibri" pitchFamily="34" charset="0"/>
                  <a:ea typeface="Calibri" pitchFamily="34" charset="-122"/>
                  <a:cs typeface="Calibri" pitchFamily="34" charset="-120"/>
                </a:rPr>
                <a:t>The baseline RF increases the bank's age-based DP gap from 0.198 to 0.231. Models do not reproduce historical decisions neutrally — they apply embedded patterns with perfect consistency.</a:t>
              </a:r>
              <a:endParaRPr lang="en-US" sz="1200" dirty="0"/>
            </a:p>
          </p:txBody>
        </p:sp>
      </p:grpSp>
      <p:grpSp>
        <p:nvGrpSpPr>
          <p:cNvPr id="16" name="Group 15">
            <a:extLst>
              <a:ext uri="{FF2B5EF4-FFF2-40B4-BE49-F238E27FC236}">
                <a16:creationId xmlns:a16="http://schemas.microsoft.com/office/drawing/2014/main" id="{F1F74485-32EF-3828-BD35-5B12546857F9}"/>
              </a:ext>
            </a:extLst>
          </p:cNvPr>
          <p:cNvGrpSpPr/>
          <p:nvPr/>
        </p:nvGrpSpPr>
        <p:grpSpPr>
          <a:xfrm>
            <a:off x="457200" y="2175894"/>
            <a:ext cx="8229600" cy="1024128"/>
            <a:chOff x="457200" y="2231136"/>
            <a:chExt cx="8229600" cy="1024128"/>
          </a:xfrm>
        </p:grpSpPr>
        <p:sp>
          <p:nvSpPr>
            <p:cNvPr id="7" name="Shape 5"/>
            <p:cNvSpPr/>
            <p:nvPr/>
          </p:nvSpPr>
          <p:spPr>
            <a:xfrm>
              <a:off x="457200" y="2231136"/>
              <a:ext cx="8229600" cy="1024128"/>
            </a:xfrm>
            <a:prstGeom prst="roundRect">
              <a:avLst>
                <a:gd name="adj" fmla="val 7143"/>
              </a:avLst>
            </a:prstGeom>
            <a:solidFill>
              <a:srgbClr val="EFF6EE"/>
            </a:solidFill>
            <a:ln/>
            <a:effectLst>
              <a:outerShdw blurRad="63500" dist="12700" dir="2700000" algn="bl" rotWithShape="0">
                <a:srgbClr val="000000">
                  <a:alpha val="8000"/>
                </a:srgbClr>
              </a:outerShdw>
            </a:effectLst>
          </p:spPr>
        </p:sp>
        <p:sp>
          <p:nvSpPr>
            <p:cNvPr id="8" name="Text 6"/>
            <p:cNvSpPr/>
            <p:nvPr/>
          </p:nvSpPr>
          <p:spPr>
            <a:xfrm>
              <a:off x="533400" y="2322576"/>
              <a:ext cx="7467600" cy="320040"/>
            </a:xfrm>
            <a:prstGeom prst="rect">
              <a:avLst/>
            </a:prstGeom>
            <a:noFill/>
            <a:ln/>
          </p:spPr>
          <p:txBody>
            <a:bodyPr wrap="square" lIns="0" tIns="0" rIns="0" bIns="0" rtlCol="0" anchor="ctr"/>
            <a:lstStyle/>
            <a:p>
              <a:pPr marL="0" indent="0">
                <a:buNone/>
              </a:pPr>
              <a:r>
                <a:rPr lang="en-US" sz="1400" b="1" dirty="0">
                  <a:solidFill>
                    <a:srgbClr val="22E563"/>
                  </a:solidFill>
                  <a:latin typeface="Cambria" pitchFamily="34" charset="0"/>
                  <a:ea typeface="Cambria" pitchFamily="34" charset="-122"/>
                  <a:cs typeface="Cambria" pitchFamily="34" charset="-120"/>
                </a:rPr>
                <a:t>All interventions reduce the gap below bank level</a:t>
              </a:r>
              <a:endParaRPr lang="en-US" sz="1400" dirty="0"/>
            </a:p>
          </p:txBody>
        </p:sp>
        <p:sp>
          <p:nvSpPr>
            <p:cNvPr id="9" name="Text 7"/>
            <p:cNvSpPr/>
            <p:nvPr/>
          </p:nvSpPr>
          <p:spPr>
            <a:xfrm>
              <a:off x="533400" y="2675447"/>
              <a:ext cx="7467600" cy="502920"/>
            </a:xfrm>
            <a:prstGeom prst="rect">
              <a:avLst/>
            </a:prstGeom>
            <a:noFill/>
            <a:ln/>
          </p:spPr>
          <p:txBody>
            <a:bodyPr wrap="square" lIns="0" tIns="0" rIns="0" bIns="0" rtlCol="0" anchor="ctr"/>
            <a:lstStyle/>
            <a:p>
              <a:pPr marL="0" indent="0">
                <a:buNone/>
              </a:pPr>
              <a:r>
                <a:rPr lang="en-US" sz="1200" dirty="0">
                  <a:solidFill>
                    <a:srgbClr val="131313"/>
                  </a:solidFill>
                  <a:latin typeface="Calibri" pitchFamily="34" charset="0"/>
                  <a:ea typeface="Calibri" pitchFamily="34" charset="-122"/>
                  <a:cs typeface="Calibri" pitchFamily="34" charset="-120"/>
                </a:rPr>
                <a:t>Post-training thresholds offer the maximum fairness reduction, while pre-training reweighing provides the best balance between bias correction and model accuracy. Ultimately, the choice depends on whether the priority is achieving the lowest possible demographic gap or maintaining the highest predictive performance.</a:t>
              </a:r>
            </a:p>
          </p:txBody>
        </p:sp>
      </p:grpSp>
      <p:grpSp>
        <p:nvGrpSpPr>
          <p:cNvPr id="17" name="Group 16">
            <a:extLst>
              <a:ext uri="{FF2B5EF4-FFF2-40B4-BE49-F238E27FC236}">
                <a16:creationId xmlns:a16="http://schemas.microsoft.com/office/drawing/2014/main" id="{5E09CF45-C5D0-4ABE-9E33-4C7531409A56}"/>
              </a:ext>
            </a:extLst>
          </p:cNvPr>
          <p:cNvGrpSpPr/>
          <p:nvPr/>
        </p:nvGrpSpPr>
        <p:grpSpPr>
          <a:xfrm>
            <a:off x="457200" y="3296057"/>
            <a:ext cx="8229600" cy="1024128"/>
            <a:chOff x="457200" y="3346704"/>
            <a:chExt cx="8229600" cy="1024128"/>
          </a:xfrm>
        </p:grpSpPr>
        <p:sp>
          <p:nvSpPr>
            <p:cNvPr id="10" name="Shape 8"/>
            <p:cNvSpPr/>
            <p:nvPr/>
          </p:nvSpPr>
          <p:spPr>
            <a:xfrm>
              <a:off x="457200" y="3346704"/>
              <a:ext cx="8229600" cy="1024128"/>
            </a:xfrm>
            <a:prstGeom prst="roundRect">
              <a:avLst>
                <a:gd name="adj" fmla="val 7143"/>
              </a:avLst>
            </a:prstGeom>
            <a:solidFill>
              <a:srgbClr val="F9F9F9"/>
            </a:solidFill>
            <a:ln/>
            <a:effectLst>
              <a:outerShdw blurRad="63500" dist="12700" dir="2700000" algn="bl" rotWithShape="0">
                <a:srgbClr val="000000">
                  <a:alpha val="8000"/>
                </a:srgbClr>
              </a:outerShdw>
            </a:effectLst>
          </p:spPr>
        </p:sp>
        <p:sp>
          <p:nvSpPr>
            <p:cNvPr id="11" name="Text 9"/>
            <p:cNvSpPr/>
            <p:nvPr/>
          </p:nvSpPr>
          <p:spPr>
            <a:xfrm>
              <a:off x="533400" y="3438420"/>
              <a:ext cx="7467600" cy="320040"/>
            </a:xfrm>
            <a:prstGeom prst="rect">
              <a:avLst/>
            </a:prstGeom>
            <a:noFill/>
            <a:ln/>
          </p:spPr>
          <p:txBody>
            <a:bodyPr wrap="square" lIns="0" tIns="0" rIns="0" bIns="0" rtlCol="0" anchor="ctr"/>
            <a:lstStyle/>
            <a:p>
              <a:pPr marL="0" indent="0">
                <a:buNone/>
              </a:pPr>
              <a:r>
                <a:rPr lang="en-US" sz="1400" b="1" dirty="0">
                  <a:solidFill>
                    <a:srgbClr val="131313"/>
                  </a:solidFill>
                  <a:latin typeface="Cambria" pitchFamily="34" charset="0"/>
                  <a:ea typeface="Cambria" pitchFamily="34" charset="-122"/>
                  <a:cs typeface="Cambria" pitchFamily="34" charset="-120"/>
                </a:rPr>
                <a:t>Design purpose shapes fairness impact</a:t>
              </a:r>
              <a:endParaRPr lang="en-US" sz="1400" dirty="0"/>
            </a:p>
          </p:txBody>
        </p:sp>
        <p:sp>
          <p:nvSpPr>
            <p:cNvPr id="12" name="Text 10"/>
            <p:cNvSpPr/>
            <p:nvPr/>
          </p:nvSpPr>
          <p:spPr>
            <a:xfrm>
              <a:off x="547991" y="3762951"/>
              <a:ext cx="7467600" cy="502920"/>
            </a:xfrm>
            <a:prstGeom prst="rect">
              <a:avLst/>
            </a:prstGeom>
            <a:noFill/>
            <a:ln/>
          </p:spPr>
          <p:txBody>
            <a:bodyPr wrap="square" lIns="0" tIns="0" rIns="0" bIns="0" rtlCol="0" anchor="ctr"/>
            <a:lstStyle/>
            <a:p>
              <a:pPr marL="0" indent="0">
                <a:buNone/>
              </a:pPr>
              <a:r>
                <a:rPr lang="en-US" sz="1200" dirty="0">
                  <a:solidFill>
                    <a:srgbClr val="131313"/>
                  </a:solidFill>
                  <a:latin typeface="Calibri" pitchFamily="34" charset="0"/>
                  <a:ea typeface="Calibri" pitchFamily="34" charset="-122"/>
                  <a:cs typeface="Calibri" pitchFamily="34" charset="-120"/>
                </a:rPr>
                <a:t>Cost-sensitive in-training weights improve fairness as a side-effect, not by design. Targeted interventions (reweighing, threshold adjustment) produce substantially larger and more predictable reductions.</a:t>
              </a:r>
              <a:endParaRPr lang="en-US" sz="1200" dirty="0"/>
            </a:p>
          </p:txBody>
        </p:sp>
      </p:grpSp>
      <p:grpSp>
        <p:nvGrpSpPr>
          <p:cNvPr id="18" name="Group 17">
            <a:extLst>
              <a:ext uri="{FF2B5EF4-FFF2-40B4-BE49-F238E27FC236}">
                <a16:creationId xmlns:a16="http://schemas.microsoft.com/office/drawing/2014/main" id="{092C1B3F-457B-40EB-54F8-FA4336357D11}"/>
              </a:ext>
            </a:extLst>
          </p:cNvPr>
          <p:cNvGrpSpPr/>
          <p:nvPr/>
        </p:nvGrpSpPr>
        <p:grpSpPr>
          <a:xfrm>
            <a:off x="457200" y="4397082"/>
            <a:ext cx="8229600" cy="502920"/>
            <a:chOff x="457200" y="4498848"/>
            <a:chExt cx="8229600" cy="502920"/>
          </a:xfrm>
        </p:grpSpPr>
        <p:sp>
          <p:nvSpPr>
            <p:cNvPr id="13" name="Shape 11"/>
            <p:cNvSpPr/>
            <p:nvPr/>
          </p:nvSpPr>
          <p:spPr>
            <a:xfrm>
              <a:off x="457200" y="4498848"/>
              <a:ext cx="8229600" cy="502920"/>
            </a:xfrm>
            <a:prstGeom prst="roundRect">
              <a:avLst>
                <a:gd name="adj" fmla="val 10909"/>
              </a:avLst>
            </a:prstGeom>
            <a:solidFill>
              <a:srgbClr val="FFF8E1"/>
            </a:solidFill>
            <a:ln w="12700">
              <a:solidFill>
                <a:srgbClr val="E0C060">
                  <a:alpha val="50000"/>
                </a:srgbClr>
              </a:solidFill>
              <a:prstDash val="solid"/>
            </a:ln>
          </p:spPr>
        </p:sp>
        <p:sp>
          <p:nvSpPr>
            <p:cNvPr id="14" name="Text 12"/>
            <p:cNvSpPr/>
            <p:nvPr/>
          </p:nvSpPr>
          <p:spPr>
            <a:xfrm>
              <a:off x="547991" y="4567428"/>
              <a:ext cx="7955280" cy="365760"/>
            </a:xfrm>
            <a:prstGeom prst="rect">
              <a:avLst/>
            </a:prstGeom>
            <a:noFill/>
            <a:ln/>
          </p:spPr>
          <p:txBody>
            <a:bodyPr wrap="square" lIns="0" tIns="0" rIns="0" bIns="0" rtlCol="0" anchor="ctr"/>
            <a:lstStyle/>
            <a:p>
              <a:pPr marL="0" indent="0">
                <a:buNone/>
              </a:pPr>
              <a:r>
                <a:rPr lang="en-US" sz="1050" b="1" i="1" dirty="0">
                  <a:solidFill>
                    <a:srgbClr val="7A6000"/>
                  </a:solidFill>
                  <a:latin typeface="Calibri" pitchFamily="34" charset="0"/>
                  <a:ea typeface="Calibri" pitchFamily="34" charset="-122"/>
                  <a:cs typeface="Calibri" pitchFamily="34" charset="-120"/>
                </a:rPr>
                <a:t>Limitations: </a:t>
              </a:r>
              <a:r>
                <a:rPr lang="en-US" sz="1050" i="1" dirty="0">
                  <a:solidFill>
                    <a:srgbClr val="7A6000"/>
                  </a:solidFill>
                  <a:latin typeface="Calibri" pitchFamily="34" charset="0"/>
                  <a:ea typeface="Calibri" pitchFamily="34" charset="-122"/>
                  <a:cs typeface="Calibri" pitchFamily="34" charset="-120"/>
                </a:rPr>
                <a:t>no independent ground truth (target = bank label); selection bias from rejected applicants; single dataset (1990s Germany); threshold values require systematic optimisation.</a:t>
              </a:r>
              <a:endParaRPr lang="en-US" sz="105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9F9"/>
        </a:solidFill>
        <a:effectLst/>
      </p:bgPr>
    </p:bg>
    <p:spTree>
      <p:nvGrpSpPr>
        <p:cNvPr id="1" name=""/>
        <p:cNvGrpSpPr/>
        <p:nvPr/>
      </p:nvGrpSpPr>
      <p:grpSpPr>
        <a:xfrm>
          <a:off x="0" y="0"/>
          <a:ext cx="0" cy="0"/>
          <a:chOff x="0" y="0"/>
          <a:chExt cx="0" cy="0"/>
        </a:xfrm>
      </p:grpSpPr>
      <p:sp>
        <p:nvSpPr>
          <p:cNvPr id="4" name="Text 2"/>
          <p:cNvSpPr/>
          <p:nvPr/>
        </p:nvSpPr>
        <p:spPr>
          <a:xfrm>
            <a:off x="457200" y="229881"/>
            <a:ext cx="8229600" cy="457200"/>
          </a:xfrm>
          <a:prstGeom prst="rect">
            <a:avLst/>
          </a:prstGeom>
          <a:noFill/>
          <a:ln/>
        </p:spPr>
        <p:txBody>
          <a:bodyPr wrap="square" lIns="0" tIns="0" rIns="0" bIns="0" rtlCol="0" anchor="ctr"/>
          <a:lstStyle/>
          <a:p>
            <a:pPr marL="0" indent="0">
              <a:buNone/>
            </a:pPr>
            <a:r>
              <a:rPr lang="en-US" sz="1200" kern="0" spc="300" dirty="0">
                <a:solidFill>
                  <a:srgbClr val="131313"/>
                </a:solidFill>
                <a:latin typeface="Calibri" pitchFamily="34" charset="0"/>
                <a:ea typeface="Calibri" pitchFamily="34" charset="-122"/>
                <a:cs typeface="Calibri" pitchFamily="34" charset="-120"/>
              </a:rPr>
              <a:t>Key Takeaway</a:t>
            </a:r>
            <a:endParaRPr lang="en-US" sz="1200" dirty="0">
              <a:solidFill>
                <a:srgbClr val="131313"/>
              </a:solidFill>
            </a:endParaRPr>
          </a:p>
        </p:txBody>
      </p:sp>
      <p:sp>
        <p:nvSpPr>
          <p:cNvPr id="5" name="Text 3"/>
          <p:cNvSpPr/>
          <p:nvPr/>
        </p:nvSpPr>
        <p:spPr>
          <a:xfrm>
            <a:off x="469522" y="860817"/>
            <a:ext cx="8217278" cy="1025133"/>
          </a:xfrm>
          <a:prstGeom prst="rect">
            <a:avLst/>
          </a:prstGeom>
          <a:noFill/>
          <a:ln/>
        </p:spPr>
        <p:txBody>
          <a:bodyPr wrap="square" lIns="0" tIns="0" rIns="0" bIns="0" rtlCol="0" anchor="ctr"/>
          <a:lstStyle/>
          <a:p>
            <a:pPr marL="0" indent="0">
              <a:buNone/>
            </a:pPr>
            <a:r>
              <a:rPr lang="en-US" sz="2800" b="1" dirty="0">
                <a:solidFill>
                  <a:srgbClr val="131313"/>
                </a:solidFill>
                <a:latin typeface="Cambria" pitchFamily="34" charset="0"/>
                <a:ea typeface="Cambria" pitchFamily="34" charset="-122"/>
                <a:cs typeface="Cambria" pitchFamily="34" charset="-120"/>
              </a:rPr>
              <a:t>Deploying a credit scoring model without fairness evaluation is not a neutral act.</a:t>
            </a:r>
            <a:endParaRPr lang="en-US" sz="2800" dirty="0">
              <a:solidFill>
                <a:srgbClr val="131313"/>
              </a:solidFill>
            </a:endParaRPr>
          </a:p>
        </p:txBody>
      </p:sp>
      <p:sp>
        <p:nvSpPr>
          <p:cNvPr id="6" name="Text 4"/>
          <p:cNvSpPr/>
          <p:nvPr/>
        </p:nvSpPr>
        <p:spPr>
          <a:xfrm>
            <a:off x="457200" y="1885950"/>
            <a:ext cx="8229600" cy="1030402"/>
          </a:xfrm>
          <a:prstGeom prst="rect">
            <a:avLst/>
          </a:prstGeom>
          <a:noFill/>
          <a:ln/>
        </p:spPr>
        <p:txBody>
          <a:bodyPr wrap="square" lIns="0" tIns="0" rIns="0" bIns="0" rtlCol="0" anchor="ctr"/>
          <a:lstStyle/>
          <a:p>
            <a:pPr marL="0" indent="0">
              <a:buNone/>
            </a:pPr>
            <a:r>
              <a:rPr lang="en-US" sz="1600" dirty="0">
                <a:solidFill>
                  <a:srgbClr val="131313"/>
                </a:solidFill>
                <a:latin typeface="Calibri" pitchFamily="34" charset="0"/>
                <a:ea typeface="Calibri" pitchFamily="34" charset="-122"/>
                <a:cs typeface="Calibri" pitchFamily="34" charset="-120"/>
              </a:rPr>
              <a:t>It encodes historical bias into future decisions at scale - and does so more consistently than any individual human ever could.</a:t>
            </a:r>
            <a:endParaRPr lang="en-US" sz="1600" dirty="0">
              <a:solidFill>
                <a:srgbClr val="131313"/>
              </a:solidFill>
            </a:endParaRPr>
          </a:p>
        </p:txBody>
      </p:sp>
      <p:grpSp>
        <p:nvGrpSpPr>
          <p:cNvPr id="17" name="Group 16">
            <a:extLst>
              <a:ext uri="{FF2B5EF4-FFF2-40B4-BE49-F238E27FC236}">
                <a16:creationId xmlns:a16="http://schemas.microsoft.com/office/drawing/2014/main" id="{6B831949-D3C8-6976-ADE0-1BB223907F85}"/>
              </a:ext>
            </a:extLst>
          </p:cNvPr>
          <p:cNvGrpSpPr/>
          <p:nvPr/>
        </p:nvGrpSpPr>
        <p:grpSpPr>
          <a:xfrm>
            <a:off x="469522" y="3246120"/>
            <a:ext cx="2560320" cy="1417320"/>
            <a:chOff x="640080" y="3383280"/>
            <a:chExt cx="2560320" cy="1417320"/>
          </a:xfrm>
        </p:grpSpPr>
        <p:sp>
          <p:nvSpPr>
            <p:cNvPr id="7" name="Shape 5"/>
            <p:cNvSpPr/>
            <p:nvPr/>
          </p:nvSpPr>
          <p:spPr>
            <a:xfrm>
              <a:off x="640080" y="3383280"/>
              <a:ext cx="2560320" cy="1417320"/>
            </a:xfrm>
            <a:prstGeom prst="roundRect">
              <a:avLst>
                <a:gd name="adj" fmla="val 6452"/>
              </a:avLst>
            </a:prstGeom>
            <a:solidFill>
              <a:srgbClr val="2A0A7A">
                <a:alpha val="80000"/>
              </a:srgbClr>
            </a:solidFill>
            <a:ln w="12700">
              <a:solidFill>
                <a:srgbClr val="5804FA">
                  <a:alpha val="40000"/>
                </a:srgbClr>
              </a:solidFill>
              <a:prstDash val="solid"/>
            </a:ln>
          </p:spPr>
        </p:sp>
        <p:sp>
          <p:nvSpPr>
            <p:cNvPr id="8" name="Text 6"/>
            <p:cNvSpPr/>
            <p:nvPr/>
          </p:nvSpPr>
          <p:spPr>
            <a:xfrm>
              <a:off x="731520" y="3493008"/>
              <a:ext cx="2377440" cy="594360"/>
            </a:xfrm>
            <a:prstGeom prst="rect">
              <a:avLst/>
            </a:prstGeom>
            <a:noFill/>
            <a:ln/>
          </p:spPr>
          <p:txBody>
            <a:bodyPr wrap="square" lIns="0" tIns="0" rIns="0" bIns="0" rtlCol="0" anchor="ctr"/>
            <a:lstStyle/>
            <a:p>
              <a:pPr marL="0" indent="0" algn="ctr">
                <a:buNone/>
              </a:pPr>
              <a:r>
                <a:rPr lang="en-US" sz="2600" b="1" dirty="0">
                  <a:solidFill>
                    <a:srgbClr val="F9F9F9"/>
                  </a:solidFill>
                  <a:latin typeface="Cambria" pitchFamily="34" charset="0"/>
                  <a:ea typeface="Cambria" pitchFamily="34" charset="-122"/>
                  <a:cs typeface="Cambria" pitchFamily="34" charset="-120"/>
                </a:rPr>
                <a:t>0.198</a:t>
              </a:r>
              <a:endParaRPr lang="en-US" sz="2600" dirty="0"/>
            </a:p>
          </p:txBody>
        </p:sp>
        <p:sp>
          <p:nvSpPr>
            <p:cNvPr id="9" name="Text 7"/>
            <p:cNvSpPr/>
            <p:nvPr/>
          </p:nvSpPr>
          <p:spPr>
            <a:xfrm>
              <a:off x="731520" y="4114800"/>
              <a:ext cx="2377440" cy="548640"/>
            </a:xfrm>
            <a:prstGeom prst="rect">
              <a:avLst/>
            </a:prstGeom>
            <a:noFill/>
            <a:ln/>
          </p:spPr>
          <p:txBody>
            <a:bodyPr wrap="square" lIns="0" tIns="0" rIns="0" bIns="0" rtlCol="0" anchor="ctr"/>
            <a:lstStyle/>
            <a:p>
              <a:pPr marL="0" indent="0" algn="ctr">
                <a:buNone/>
              </a:pPr>
              <a:r>
                <a:rPr lang="en-US" sz="1000" dirty="0">
                  <a:solidFill>
                    <a:srgbClr val="F9F9F9"/>
                  </a:solidFill>
                  <a:latin typeface="Calibri" pitchFamily="34" charset="0"/>
                  <a:ea typeface="Calibri" pitchFamily="34" charset="-122"/>
                  <a:cs typeface="Calibri" pitchFamily="34" charset="-120"/>
                </a:rPr>
                <a:t>Bank's own DP gap</a:t>
              </a:r>
              <a:endParaRPr lang="en-US" sz="1000" dirty="0">
                <a:solidFill>
                  <a:srgbClr val="F9F9F9"/>
                </a:solidFill>
              </a:endParaRPr>
            </a:p>
            <a:p>
              <a:pPr marL="0" indent="0" algn="ctr">
                <a:buNone/>
              </a:pPr>
              <a:r>
                <a:rPr lang="en-US" sz="1000" dirty="0">
                  <a:solidFill>
                    <a:srgbClr val="F9F9F9"/>
                  </a:solidFill>
                  <a:latin typeface="Calibri" pitchFamily="34" charset="0"/>
                  <a:ea typeface="Calibri" pitchFamily="34" charset="-122"/>
                  <a:cs typeface="Calibri" pitchFamily="34" charset="-120"/>
                </a:rPr>
                <a:t>(historical baseline)</a:t>
              </a:r>
              <a:endParaRPr lang="en-US" sz="1000" dirty="0">
                <a:solidFill>
                  <a:srgbClr val="F9F9F9"/>
                </a:solidFill>
              </a:endParaRPr>
            </a:p>
          </p:txBody>
        </p:sp>
      </p:grpSp>
      <p:grpSp>
        <p:nvGrpSpPr>
          <p:cNvPr id="18" name="Group 17">
            <a:extLst>
              <a:ext uri="{FF2B5EF4-FFF2-40B4-BE49-F238E27FC236}">
                <a16:creationId xmlns:a16="http://schemas.microsoft.com/office/drawing/2014/main" id="{D1766D0A-2D42-5BE1-9721-F1DF7556635A}"/>
              </a:ext>
            </a:extLst>
          </p:cNvPr>
          <p:cNvGrpSpPr/>
          <p:nvPr/>
        </p:nvGrpSpPr>
        <p:grpSpPr>
          <a:xfrm>
            <a:off x="3200400" y="3246120"/>
            <a:ext cx="2560320" cy="1417320"/>
            <a:chOff x="3474720" y="3383280"/>
            <a:chExt cx="2560320" cy="1417320"/>
          </a:xfrm>
        </p:grpSpPr>
        <p:sp>
          <p:nvSpPr>
            <p:cNvPr id="10" name="Shape 8"/>
            <p:cNvSpPr/>
            <p:nvPr/>
          </p:nvSpPr>
          <p:spPr>
            <a:xfrm>
              <a:off x="3474720" y="3383280"/>
              <a:ext cx="2560320" cy="1417320"/>
            </a:xfrm>
            <a:prstGeom prst="roundRect">
              <a:avLst>
                <a:gd name="adj" fmla="val 6452"/>
              </a:avLst>
            </a:prstGeom>
            <a:solidFill>
              <a:srgbClr val="2A0A7A">
                <a:alpha val="80000"/>
              </a:srgbClr>
            </a:solidFill>
            <a:ln w="12700">
              <a:solidFill>
                <a:srgbClr val="5804FA">
                  <a:alpha val="40000"/>
                </a:srgbClr>
              </a:solidFill>
              <a:prstDash val="solid"/>
            </a:ln>
          </p:spPr>
        </p:sp>
        <p:sp>
          <p:nvSpPr>
            <p:cNvPr id="11" name="Text 9"/>
            <p:cNvSpPr/>
            <p:nvPr/>
          </p:nvSpPr>
          <p:spPr>
            <a:xfrm>
              <a:off x="3566160" y="3493008"/>
              <a:ext cx="2377440" cy="594360"/>
            </a:xfrm>
            <a:prstGeom prst="rect">
              <a:avLst/>
            </a:prstGeom>
            <a:noFill/>
            <a:ln/>
          </p:spPr>
          <p:txBody>
            <a:bodyPr wrap="square" lIns="0" tIns="0" rIns="0" bIns="0" rtlCol="0" anchor="ctr"/>
            <a:lstStyle/>
            <a:p>
              <a:pPr marL="0" indent="0" algn="ctr">
                <a:buNone/>
              </a:pPr>
              <a:r>
                <a:rPr lang="en-US" sz="2600" b="1" dirty="0">
                  <a:solidFill>
                    <a:srgbClr val="F9F9F9"/>
                  </a:solidFill>
                  <a:latin typeface="Cambria" pitchFamily="34" charset="0"/>
                  <a:ea typeface="Cambria" pitchFamily="34" charset="-122"/>
                  <a:cs typeface="Cambria" pitchFamily="34" charset="-120"/>
                </a:rPr>
                <a:t>→ 0.231</a:t>
              </a:r>
              <a:endParaRPr lang="en-US" sz="2600" dirty="0"/>
            </a:p>
          </p:txBody>
        </p:sp>
        <p:sp>
          <p:nvSpPr>
            <p:cNvPr id="12" name="Text 10"/>
            <p:cNvSpPr/>
            <p:nvPr/>
          </p:nvSpPr>
          <p:spPr>
            <a:xfrm>
              <a:off x="3566160" y="4114800"/>
              <a:ext cx="2377440" cy="548640"/>
            </a:xfrm>
            <a:prstGeom prst="rect">
              <a:avLst/>
            </a:prstGeom>
            <a:noFill/>
            <a:ln/>
          </p:spPr>
          <p:txBody>
            <a:bodyPr wrap="square" lIns="0" tIns="0" rIns="0" bIns="0" rtlCol="0" anchor="ctr"/>
            <a:lstStyle/>
            <a:p>
              <a:pPr marL="0" indent="0" algn="ctr">
                <a:buNone/>
              </a:pPr>
              <a:r>
                <a:rPr lang="en-US" sz="1000" dirty="0">
                  <a:solidFill>
                    <a:srgbClr val="F9F9F9"/>
                  </a:solidFill>
                  <a:latin typeface="Calibri" pitchFamily="34" charset="0"/>
                  <a:ea typeface="Calibri" pitchFamily="34" charset="-122"/>
                  <a:cs typeface="Calibri" pitchFamily="34" charset="-120"/>
                </a:rPr>
                <a:t>Baseline RF amplifies it</a:t>
              </a:r>
              <a:endParaRPr lang="en-US" sz="1000" dirty="0">
                <a:solidFill>
                  <a:srgbClr val="F9F9F9"/>
                </a:solidFill>
              </a:endParaRPr>
            </a:p>
            <a:p>
              <a:pPr marL="0" indent="0" algn="ctr">
                <a:buNone/>
              </a:pPr>
              <a:r>
                <a:rPr lang="en-US" sz="1000" dirty="0">
                  <a:solidFill>
                    <a:srgbClr val="F9F9F9"/>
                  </a:solidFill>
                  <a:latin typeface="Calibri" pitchFamily="34" charset="0"/>
                  <a:ea typeface="Calibri" pitchFamily="34" charset="-122"/>
                  <a:cs typeface="Calibri" pitchFamily="34" charset="-120"/>
                </a:rPr>
                <a:t>(+16.7%)</a:t>
              </a:r>
              <a:endParaRPr lang="en-US" sz="1000" dirty="0">
                <a:solidFill>
                  <a:srgbClr val="F9F9F9"/>
                </a:solidFill>
              </a:endParaRPr>
            </a:p>
          </p:txBody>
        </p:sp>
      </p:grpSp>
      <p:grpSp>
        <p:nvGrpSpPr>
          <p:cNvPr id="19" name="Group 18">
            <a:extLst>
              <a:ext uri="{FF2B5EF4-FFF2-40B4-BE49-F238E27FC236}">
                <a16:creationId xmlns:a16="http://schemas.microsoft.com/office/drawing/2014/main" id="{83676E76-C436-0282-AAE9-2535BEB7C670}"/>
              </a:ext>
            </a:extLst>
          </p:cNvPr>
          <p:cNvGrpSpPr/>
          <p:nvPr/>
        </p:nvGrpSpPr>
        <p:grpSpPr>
          <a:xfrm>
            <a:off x="5955597" y="3246120"/>
            <a:ext cx="2560320" cy="1417320"/>
            <a:chOff x="6309360" y="3383280"/>
            <a:chExt cx="2560320" cy="1417320"/>
          </a:xfrm>
        </p:grpSpPr>
        <p:sp>
          <p:nvSpPr>
            <p:cNvPr id="13" name="Shape 11"/>
            <p:cNvSpPr/>
            <p:nvPr/>
          </p:nvSpPr>
          <p:spPr>
            <a:xfrm>
              <a:off x="6309360" y="3383280"/>
              <a:ext cx="2560320" cy="1417320"/>
            </a:xfrm>
            <a:prstGeom prst="roundRect">
              <a:avLst>
                <a:gd name="adj" fmla="val 6452"/>
              </a:avLst>
            </a:prstGeom>
            <a:solidFill>
              <a:srgbClr val="2A0A7A">
                <a:alpha val="80000"/>
              </a:srgbClr>
            </a:solidFill>
            <a:ln w="12700">
              <a:solidFill>
                <a:srgbClr val="5804FA">
                  <a:alpha val="40000"/>
                </a:srgbClr>
              </a:solidFill>
              <a:prstDash val="solid"/>
            </a:ln>
          </p:spPr>
        </p:sp>
        <p:sp>
          <p:nvSpPr>
            <p:cNvPr id="14" name="Text 12"/>
            <p:cNvSpPr/>
            <p:nvPr/>
          </p:nvSpPr>
          <p:spPr>
            <a:xfrm>
              <a:off x="6400800" y="3493008"/>
              <a:ext cx="2377440" cy="594360"/>
            </a:xfrm>
            <a:prstGeom prst="rect">
              <a:avLst/>
            </a:prstGeom>
            <a:noFill/>
            <a:ln/>
          </p:spPr>
          <p:txBody>
            <a:bodyPr wrap="square" lIns="0" tIns="0" rIns="0" bIns="0" rtlCol="0" anchor="ctr"/>
            <a:lstStyle/>
            <a:p>
              <a:pPr marL="0" indent="0" algn="ctr">
                <a:buNone/>
              </a:pPr>
              <a:r>
                <a:rPr lang="en-US" sz="2600" b="1" dirty="0">
                  <a:solidFill>
                    <a:srgbClr val="7FD99A"/>
                  </a:solidFill>
                  <a:latin typeface="Cambria" pitchFamily="34" charset="0"/>
                  <a:ea typeface="Cambria" pitchFamily="34" charset="-122"/>
                  <a:cs typeface="Cambria" pitchFamily="34" charset="-120"/>
                </a:rPr>
                <a:t>→ 0.045</a:t>
              </a:r>
              <a:endParaRPr lang="en-US" sz="2600" dirty="0"/>
            </a:p>
          </p:txBody>
        </p:sp>
        <p:sp>
          <p:nvSpPr>
            <p:cNvPr id="15" name="Text 13"/>
            <p:cNvSpPr/>
            <p:nvPr/>
          </p:nvSpPr>
          <p:spPr>
            <a:xfrm>
              <a:off x="6400800" y="4114800"/>
              <a:ext cx="2377440" cy="548640"/>
            </a:xfrm>
            <a:prstGeom prst="rect">
              <a:avLst/>
            </a:prstGeom>
            <a:noFill/>
            <a:ln/>
          </p:spPr>
          <p:txBody>
            <a:bodyPr wrap="square" lIns="0" tIns="0" rIns="0" bIns="0" rtlCol="0" anchor="ctr"/>
            <a:lstStyle/>
            <a:p>
              <a:pPr marL="0" indent="0" algn="ctr">
                <a:buNone/>
              </a:pPr>
              <a:r>
                <a:rPr lang="en-US" sz="1000" dirty="0">
                  <a:solidFill>
                    <a:srgbClr val="F9F9F9"/>
                  </a:solidFill>
                  <a:latin typeface="Calibri" pitchFamily="34" charset="0"/>
                  <a:ea typeface="Calibri" pitchFamily="34" charset="-122"/>
                  <a:cs typeface="Calibri" pitchFamily="34" charset="-120"/>
                </a:rPr>
                <a:t>Best intervention</a:t>
              </a:r>
              <a:endParaRPr lang="en-US" sz="1000" dirty="0">
                <a:solidFill>
                  <a:srgbClr val="F9F9F9"/>
                </a:solidFill>
              </a:endParaRPr>
            </a:p>
            <a:p>
              <a:pPr marL="0" indent="0" algn="ctr">
                <a:buNone/>
              </a:pPr>
              <a:r>
                <a:rPr lang="en-US" sz="1000" dirty="0">
                  <a:solidFill>
                    <a:srgbClr val="F9F9F9"/>
                  </a:solidFill>
                  <a:latin typeface="Calibri" pitchFamily="34" charset="0"/>
                  <a:ea typeface="Calibri" pitchFamily="34" charset="-122"/>
                  <a:cs typeface="Calibri" pitchFamily="34" charset="-120"/>
                </a:rPr>
                <a:t>post-training thresholds</a:t>
              </a:r>
              <a:endParaRPr lang="en-US" sz="1000" dirty="0">
                <a:solidFill>
                  <a:srgbClr val="F9F9F9"/>
                </a:solidFill>
              </a:endParaRPr>
            </a:p>
          </p:txBody>
        </p:sp>
      </p:grpSp>
      <p:sp>
        <p:nvSpPr>
          <p:cNvPr id="16" name="Text 14"/>
          <p:cNvSpPr/>
          <p:nvPr/>
        </p:nvSpPr>
        <p:spPr>
          <a:xfrm>
            <a:off x="469522" y="4776459"/>
            <a:ext cx="8229600" cy="274320"/>
          </a:xfrm>
          <a:prstGeom prst="rect">
            <a:avLst/>
          </a:prstGeom>
          <a:noFill/>
          <a:ln/>
        </p:spPr>
        <p:txBody>
          <a:bodyPr wrap="square" lIns="0" tIns="0" rIns="0" bIns="0" rtlCol="0" anchor="ctr"/>
          <a:lstStyle/>
          <a:p>
            <a:pPr marL="0" indent="0">
              <a:buNone/>
            </a:pPr>
            <a:r>
              <a:rPr lang="en-US" sz="1100" i="1" dirty="0">
                <a:solidFill>
                  <a:srgbClr val="131313"/>
                </a:solidFill>
                <a:latin typeface="Calibri" pitchFamily="34" charset="0"/>
                <a:ea typeface="Calibri" pitchFamily="34" charset="-122"/>
                <a:cs typeface="Calibri" pitchFamily="34" charset="-120"/>
              </a:rPr>
              <a:t>Thank you — questions welcome.</a:t>
            </a:r>
            <a:endParaRPr lang="en-US" sz="1100" dirty="0">
              <a:solidFill>
                <a:srgbClr val="131313"/>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1550</Words>
  <Application>Microsoft Macintosh PowerPoint</Application>
  <PresentationFormat>On-screen Show (16:9)</PresentationFormat>
  <Paragraphs>178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-webkit-standard</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 Credit Assessment: Bias Mitigation in Machine Learning</dc:title>
  <dc:subject>PptxGenJS Presentation</dc:subject>
  <dc:creator>Seminar Paper — Machine Learning Ethics</dc:creator>
  <cp:lastModifiedBy>Ephraim Shochat</cp:lastModifiedBy>
  <cp:revision>65</cp:revision>
  <dcterms:created xsi:type="dcterms:W3CDTF">2026-06-15T16:45:59Z</dcterms:created>
  <dcterms:modified xsi:type="dcterms:W3CDTF">2026-06-17T09:48:20Z</dcterms:modified>
</cp:coreProperties>
</file>